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9" r:id="rId2"/>
  </p:sldMasterIdLst>
  <p:notesMasterIdLst>
    <p:notesMasterId r:id="rId26"/>
  </p:notesMasterIdLst>
  <p:handoutMasterIdLst>
    <p:handoutMasterId r:id="rId27"/>
  </p:handoutMasterIdLst>
  <p:sldIdLst>
    <p:sldId id="256" r:id="rId3"/>
    <p:sldId id="324" r:id="rId4"/>
    <p:sldId id="291" r:id="rId5"/>
    <p:sldId id="305" r:id="rId6"/>
    <p:sldId id="257" r:id="rId7"/>
    <p:sldId id="323" r:id="rId8"/>
    <p:sldId id="325" r:id="rId9"/>
    <p:sldId id="326" r:id="rId10"/>
    <p:sldId id="327" r:id="rId11"/>
    <p:sldId id="328" r:id="rId12"/>
    <p:sldId id="329" r:id="rId13"/>
    <p:sldId id="330" r:id="rId14"/>
    <p:sldId id="331" r:id="rId15"/>
    <p:sldId id="332" r:id="rId16"/>
    <p:sldId id="340" r:id="rId17"/>
    <p:sldId id="338" r:id="rId18"/>
    <p:sldId id="339" r:id="rId19"/>
    <p:sldId id="333" r:id="rId20"/>
    <p:sldId id="334" r:id="rId21"/>
    <p:sldId id="335" r:id="rId22"/>
    <p:sldId id="336" r:id="rId23"/>
    <p:sldId id="337" r:id="rId24"/>
    <p:sldId id="271" r:id="rId25"/>
  </p:sldIdLst>
  <p:sldSz cx="9144000" cy="6858000" type="screen4x3"/>
  <p:notesSz cx="7104063" cy="10234613"/>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2F5597"/>
    <a:srgbClr val="4B4539"/>
    <a:srgbClr val="B2B2B2"/>
    <a:srgbClr val="202020"/>
    <a:srgbClr val="323232"/>
    <a:srgbClr val="CC3300"/>
    <a:srgbClr val="CC0000"/>
    <a:srgbClr val="FF33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01" autoAdjust="0"/>
    <p:restoredTop sz="86328"/>
  </p:normalViewPr>
  <p:slideViewPr>
    <p:cSldViewPr snapToGrid="0" showGuides="1">
      <p:cViewPr varScale="1">
        <p:scale>
          <a:sx n="140" d="100"/>
          <a:sy n="140" d="100"/>
        </p:scale>
        <p:origin x="2556" y="126"/>
      </p:cViewPr>
      <p:guideLst>
        <p:guide orient="horz" pos="2218"/>
        <p:guide pos="2880"/>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2025/2/28</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2025/2/28</a:t>
            </a:fld>
            <a:endParaRPr lang="zh-CN" altLang="en-US"/>
          </a:p>
        </p:txBody>
      </p:sp>
      <p:sp>
        <p:nvSpPr>
          <p:cNvPr id="4" name="幻灯片图像占位符 3"/>
          <p:cNvSpPr>
            <a:spLocks noGrp="1" noRot="1" noChangeAspect="1"/>
          </p:cNvSpPr>
          <p:nvPr>
            <p:ph type="sldImg" idx="2"/>
          </p:nvPr>
        </p:nvSpPr>
        <p:spPr>
          <a:xfrm>
            <a:off x="1249892" y="1279525"/>
            <a:ext cx="4605867"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今天我介绍的这篇文章是发表在一个</a:t>
            </a:r>
            <a:r>
              <a:rPr lang="en-US" altLang="zh-CN" b="0" i="0" dirty="0">
                <a:solidFill>
                  <a:srgbClr val="4EA1DB"/>
                </a:solidFill>
                <a:effectLst/>
                <a:latin typeface="-apple-system"/>
              </a:rPr>
              <a:t>IEEE</a:t>
            </a:r>
            <a:r>
              <a:rPr lang="zh-CN" altLang="en-US" b="0" i="0" dirty="0">
                <a:solidFill>
                  <a:srgbClr val="4EA1DB"/>
                </a:solidFill>
                <a:effectLst/>
                <a:latin typeface="-apple-system"/>
              </a:rPr>
              <a:t>的期刊上，也是中科院</a:t>
            </a:r>
            <a:r>
              <a:rPr lang="en-US" altLang="zh-CN" b="0" i="0" dirty="0">
                <a:solidFill>
                  <a:srgbClr val="4EA1DB"/>
                </a:solidFill>
                <a:effectLst/>
                <a:latin typeface="-apple-system"/>
              </a:rPr>
              <a:t>A</a:t>
            </a:r>
            <a:r>
              <a:rPr lang="zh-CN" altLang="en-US" b="0" i="0" dirty="0">
                <a:solidFill>
                  <a:srgbClr val="4EA1DB"/>
                </a:solidFill>
                <a:effectLst/>
                <a:latin typeface="-apple-system"/>
              </a:rPr>
              <a:t>区期刊</a:t>
            </a:r>
            <a:r>
              <a:rPr lang="en-US" altLang="zh-CN" b="0" i="0" dirty="0">
                <a:solidFill>
                  <a:srgbClr val="4D4D4D"/>
                </a:solidFill>
                <a:effectLst/>
                <a:latin typeface="-apple-system"/>
              </a:rPr>
              <a:t> </a:t>
            </a:r>
            <a:r>
              <a:rPr lang="zh-CN" altLang="en-US" b="0" i="0" dirty="0">
                <a:solidFill>
                  <a:srgbClr val="4D4D4D"/>
                </a:solidFill>
                <a:effectLst/>
                <a:latin typeface="-apple-system"/>
              </a:rPr>
              <a:t>（</a:t>
            </a:r>
            <a:r>
              <a:rPr lang="en-US" altLang="zh-CN" b="0" i="0" dirty="0">
                <a:solidFill>
                  <a:srgbClr val="4D4D4D"/>
                </a:solidFill>
                <a:effectLst/>
                <a:latin typeface="-apple-system"/>
              </a:rPr>
              <a:t>Transactions on Neural Networks and Learning Systems</a:t>
            </a:r>
            <a:r>
              <a:rPr lang="zh-CN" altLang="en-US" b="0" i="0" dirty="0">
                <a:solidFill>
                  <a:srgbClr val="4D4D4D"/>
                </a:solidFill>
                <a:effectLst/>
                <a:latin typeface="-apple-system"/>
              </a:rPr>
              <a:t>）。我也是第一次涉猎</a:t>
            </a:r>
            <a:r>
              <a:rPr lang="en-US" altLang="zh-CN" b="0" i="0" dirty="0">
                <a:solidFill>
                  <a:srgbClr val="4D4D4D"/>
                </a:solidFill>
                <a:effectLst/>
                <a:latin typeface="-apple-system"/>
              </a:rPr>
              <a:t>transformer</a:t>
            </a:r>
            <a:r>
              <a:rPr lang="zh-CN" altLang="en-US" b="0" i="0">
                <a:solidFill>
                  <a:srgbClr val="4D4D4D"/>
                </a:solidFill>
                <a:effectLst/>
                <a:latin typeface="-apple-system"/>
              </a:rPr>
              <a:t>，有什么不对的地方及时指正。这</a:t>
            </a:r>
            <a:r>
              <a:rPr lang="zh-CN" altLang="en-US" b="0" i="0" dirty="0">
                <a:solidFill>
                  <a:srgbClr val="4D4D4D"/>
                </a:solidFill>
                <a:effectLst/>
                <a:latin typeface="-apple-system"/>
              </a:rPr>
              <a:t>篇文章主要关注的点有两个：第一个是个性化联邦学习：</a:t>
            </a:r>
            <a:r>
              <a:rPr lang="en-US" altLang="zh-CN" b="0" i="0" dirty="0">
                <a:solidFill>
                  <a:srgbClr val="4D4D4D"/>
                </a:solidFill>
                <a:effectLst/>
                <a:latin typeface="-apple-system"/>
              </a:rPr>
              <a:t>personalization federated learning</a:t>
            </a:r>
            <a:r>
              <a:rPr lang="zh-CN" altLang="en-US" b="0" i="0" dirty="0">
                <a:solidFill>
                  <a:srgbClr val="4D4D4D"/>
                </a:solidFill>
                <a:effectLst/>
                <a:latin typeface="-apple-system"/>
              </a:rPr>
              <a:t>。</a:t>
            </a:r>
            <a:r>
              <a:rPr lang="zh-CN" altLang="en-US" dirty="0"/>
              <a:t>这是一种在传统联邦学习框架基础上发展起来的技术，目的针对不同客户端的个性化需求来优化模型的性能。传统的联邦学习在一开始的假设是所有客户端的数据分布相同，也就是独立同分布</a:t>
            </a:r>
            <a:r>
              <a:rPr lang="en-US" altLang="zh-CN" dirty="0"/>
              <a:t>IID</a:t>
            </a:r>
            <a:r>
              <a:rPr lang="zh-CN" altLang="en-US" dirty="0"/>
              <a:t>，因此使用一个统一的全局模型进行训练和测试，后来传统联邦学习也同样使用统一的模型应对</a:t>
            </a:r>
            <a:r>
              <a:rPr lang="en-US" altLang="zh-CN" dirty="0"/>
              <a:t>non-IID</a:t>
            </a:r>
            <a:r>
              <a:rPr lang="zh-CN" altLang="en-US" dirty="0"/>
              <a:t>的数据。而个性化联邦学习则从一开始就假设每个客户端的数据可能是非独立同分布（</a:t>
            </a:r>
            <a:r>
              <a:rPr lang="en-US" altLang="zh-CN" dirty="0"/>
              <a:t>non-IID</a:t>
            </a:r>
            <a:r>
              <a:rPr lang="zh-CN" altLang="en-US" dirty="0"/>
              <a:t>）的，且不同客户端可能有不同的任务去完成，因此每个客户端都会拥有一个适应其数据的个性化模型。第二个是</a:t>
            </a:r>
            <a:r>
              <a:rPr lang="en-US" altLang="zh-CN" dirty="0"/>
              <a:t>transformer</a:t>
            </a:r>
            <a:r>
              <a:rPr lang="zh-CN" altLang="en-US" dirty="0"/>
              <a:t>。因为直到目前，大部分联邦学习关注的模型，比如实验里用的模型，仍然是卷积神经网络为基础，这篇文章算是在联邦学习中引入</a:t>
            </a:r>
            <a:r>
              <a:rPr lang="en-US" altLang="zh-CN" dirty="0"/>
              <a:t>transformer</a:t>
            </a:r>
            <a:r>
              <a:rPr lang="zh-CN" altLang="en-US" dirty="0"/>
              <a:t>比较早的一篇文章。</a:t>
            </a:r>
            <a:endParaRPr kumimoji="1"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这篇文章的主要贡献有两个：</a:t>
            </a:r>
            <a:r>
              <a:rPr kumimoji="1" lang="en-US" altLang="zh-CN" dirty="0"/>
              <a:t>1.</a:t>
            </a:r>
            <a:r>
              <a:rPr kumimoji="1" lang="zh-CN" altLang="en-US" dirty="0"/>
              <a:t>设计了一种针对</a:t>
            </a:r>
            <a:r>
              <a:rPr kumimoji="1" lang="en-US" altLang="zh-CN" dirty="0"/>
              <a:t>transformer</a:t>
            </a:r>
            <a:r>
              <a:rPr kumimoji="1" lang="zh-CN" altLang="en-US" dirty="0"/>
              <a:t>的联邦学习框架，</a:t>
            </a:r>
            <a:r>
              <a:rPr kumimoji="1" lang="en-US" altLang="zh-CN" dirty="0" err="1"/>
              <a:t>FedTP</a:t>
            </a:r>
            <a:r>
              <a:rPr kumimoji="1" lang="en-US" altLang="zh-CN" dirty="0"/>
              <a:t>,</a:t>
            </a:r>
            <a:r>
              <a:rPr kumimoji="1" lang="zh-CN" altLang="en-US" dirty="0"/>
              <a:t>这个</a:t>
            </a:r>
            <a:r>
              <a:rPr kumimoji="1" lang="en-US" altLang="zh-CN" dirty="0" err="1"/>
              <a:t>FedTP</a:t>
            </a:r>
            <a:r>
              <a:rPr kumimoji="1" lang="zh-CN" altLang="en-US" dirty="0"/>
              <a:t>比直接在</a:t>
            </a:r>
            <a:r>
              <a:rPr kumimoji="1" lang="en-US" altLang="zh-CN" dirty="0" err="1"/>
              <a:t>FedAvg</a:t>
            </a:r>
            <a:r>
              <a:rPr kumimoji="1" lang="zh-CN" altLang="en-US" dirty="0"/>
              <a:t>上聚合</a:t>
            </a:r>
            <a:r>
              <a:rPr kumimoji="1" lang="en-US" altLang="zh-CN" dirty="0"/>
              <a:t>transformer</a:t>
            </a:r>
            <a:r>
              <a:rPr kumimoji="1" lang="zh-CN" altLang="en-US" dirty="0"/>
              <a:t>效果要好得多。</a:t>
            </a:r>
            <a:r>
              <a:rPr kumimoji="1" lang="en-US" altLang="zh-CN" dirty="0"/>
              <a:t>2.</a:t>
            </a:r>
            <a:r>
              <a:rPr kumimoji="1" lang="zh-CN" altLang="en-US" dirty="0"/>
              <a:t>第二点是它证明了</a:t>
            </a:r>
            <a:r>
              <a:rPr kumimoji="1" lang="en-US" altLang="zh-CN" dirty="0" err="1"/>
              <a:t>FedTP</a:t>
            </a:r>
            <a:r>
              <a:rPr kumimoji="1" lang="zh-CN" altLang="en-US" dirty="0"/>
              <a:t>的泛化性上界，就是它的</a:t>
            </a:r>
            <a:r>
              <a:rPr kumimoji="1" lang="en-US" altLang="zh-CN" dirty="0"/>
              <a:t>generalization bound</a:t>
            </a:r>
            <a:r>
              <a:rPr kumimoji="1" lang="zh-CN" altLang="en-US" dirty="0"/>
              <a:t>，因为个性化的联邦学习总有这个泛化性的问题，因为每个用户都拥有专属于适合自己的模型，当全新的用户加入的时候，如何让用户得到可以使用的模型是一个问题。</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实际上在联邦学习里使用</a:t>
            </a:r>
            <a:r>
              <a:rPr kumimoji="1" lang="en-US" altLang="zh-CN" dirty="0"/>
              <a:t>transformer</a:t>
            </a:r>
            <a:r>
              <a:rPr kumimoji="1" lang="zh-CN" altLang="en-US" dirty="0"/>
              <a:t>要比使用</a:t>
            </a:r>
            <a:r>
              <a:rPr kumimoji="1" lang="en-US" altLang="zh-CN" dirty="0"/>
              <a:t>CNN</a:t>
            </a:r>
            <a:r>
              <a:rPr kumimoji="1" lang="zh-CN" altLang="en-US" dirty="0"/>
              <a:t>要好</a:t>
            </a:r>
            <a:r>
              <a:rPr kumimoji="1" lang="en-US" altLang="zh-CN" dirty="0"/>
              <a:t>，</a:t>
            </a:r>
            <a:r>
              <a:rPr kumimoji="1" lang="zh-CN" altLang="en-US" dirty="0"/>
              <a:t>因为联邦学习主要面对的都是</a:t>
            </a:r>
            <a:r>
              <a:rPr kumimoji="1" lang="en-US" altLang="zh-CN" dirty="0"/>
              <a:t>non-IID</a:t>
            </a:r>
            <a:r>
              <a:rPr kumimoji="1" lang="zh-CN" altLang="en-US" dirty="0"/>
              <a:t>数据</a:t>
            </a:r>
            <a:r>
              <a:rPr kumimoji="1" lang="en-US" altLang="zh-CN" dirty="0"/>
              <a:t>。</a:t>
            </a:r>
            <a:r>
              <a:rPr kumimoji="1" lang="zh-CN" altLang="en-US" dirty="0"/>
              <a:t>首先，Transformer架构通过自注意力机制能够在不同位置之间灵活地建立长距离的依赖关系，能捕捉到</a:t>
            </a:r>
            <a:r>
              <a:rPr kumimoji="1" lang="en-US" altLang="zh-CN" dirty="0"/>
              <a:t>non-IID</a:t>
            </a:r>
            <a:r>
              <a:rPr kumimoji="1" lang="zh-CN" altLang="en-US" dirty="0"/>
              <a:t>数据中的潜在结构，而CNN的局部感知机制则可能受到</a:t>
            </a:r>
            <a:r>
              <a:rPr kumimoji="1" lang="en-US" altLang="zh-CN" dirty="0"/>
              <a:t>non-IID</a:t>
            </a:r>
            <a:r>
              <a:rPr kumimoji="1" lang="zh-CN" altLang="en-US" dirty="0"/>
              <a:t>数据特征的限制，它学到的东西是聚焦在大量存在的数据特征里</a:t>
            </a:r>
            <a:r>
              <a:rPr kumimoji="1" lang="en-US" altLang="zh-CN" dirty="0"/>
              <a:t>，</a:t>
            </a:r>
            <a:r>
              <a:rPr kumimoji="1" lang="zh-CN" altLang="en-US" dirty="0"/>
              <a:t>无法挖掘出全局信息。第二点呢，Transformer不依赖于固定大小的卷积核，这使得其在应对数据的多样性和异构性时有更大的灵活性。</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这篇文章的出发点有两个</a:t>
            </a:r>
            <a:r>
              <a:rPr kumimoji="1" lang="en-US" altLang="zh-CN" dirty="0"/>
              <a:t>：</a:t>
            </a:r>
            <a:r>
              <a:rPr kumimoji="1" lang="zh-CN" altLang="en-US" dirty="0"/>
              <a:t>一个是</a:t>
            </a:r>
            <a:r>
              <a:rPr kumimoji="1" lang="en-US" altLang="zh-CN" dirty="0"/>
              <a:t>transformer</a:t>
            </a:r>
            <a:r>
              <a:rPr kumimoji="1" lang="zh-CN" altLang="en-US" dirty="0"/>
              <a:t>在深度学习中已经被大规模的应用</a:t>
            </a:r>
            <a:r>
              <a:rPr kumimoji="1" lang="en-US" altLang="zh-CN" dirty="0"/>
              <a:t>，</a:t>
            </a:r>
            <a:r>
              <a:rPr kumimoji="1" lang="zh-CN" altLang="en-US" dirty="0"/>
              <a:t>即使在图片分类这种任务中</a:t>
            </a:r>
            <a:r>
              <a:rPr kumimoji="1" lang="en-US" altLang="zh-CN" dirty="0"/>
              <a:t>，</a:t>
            </a:r>
            <a:r>
              <a:rPr kumimoji="1" lang="zh-CN" altLang="en-US" dirty="0"/>
              <a:t>大多数都是</a:t>
            </a:r>
            <a:r>
              <a:rPr kumimoji="1" lang="en-US" altLang="zh-CN" dirty="0"/>
              <a:t>CNN+ViT</a:t>
            </a:r>
            <a:r>
              <a:rPr kumimoji="1" lang="zh-CN" altLang="en-US" dirty="0"/>
              <a:t>一起完成分类任务</a:t>
            </a:r>
            <a:r>
              <a:rPr kumimoji="1" lang="en-US" altLang="zh-CN" dirty="0"/>
              <a:t>，</a:t>
            </a:r>
            <a:r>
              <a:rPr kumimoji="1" lang="zh-CN" altLang="en-US" dirty="0"/>
              <a:t>单纯使用</a:t>
            </a:r>
            <a:r>
              <a:rPr kumimoji="1" lang="en-US" altLang="zh-CN" dirty="0"/>
              <a:t>CNN</a:t>
            </a:r>
            <a:r>
              <a:rPr kumimoji="1" lang="zh-CN" altLang="en-US" dirty="0"/>
              <a:t>结构的模型已经很少了</a:t>
            </a:r>
            <a:r>
              <a:rPr kumimoji="1" lang="en-US" altLang="zh-CN" dirty="0"/>
              <a:t>，</a:t>
            </a:r>
            <a:r>
              <a:rPr kumimoji="1" lang="zh-CN" altLang="en-US" dirty="0"/>
              <a:t>但是显然联邦学习中使用</a:t>
            </a:r>
            <a:r>
              <a:rPr kumimoji="1" lang="en-US" altLang="zh-CN" dirty="0"/>
              <a:t>transformer</a:t>
            </a:r>
            <a:r>
              <a:rPr kumimoji="1" lang="zh-CN" altLang="en-US" dirty="0"/>
              <a:t>的很少</a:t>
            </a:r>
            <a:r>
              <a:rPr kumimoji="1" lang="en-US" altLang="zh-CN" dirty="0"/>
              <a:t>。</a:t>
            </a:r>
            <a:r>
              <a:rPr kumimoji="1" lang="zh-CN" altLang="en-US" dirty="0"/>
              <a:t>另一个是本文发现传统的联邦学习</a:t>
            </a:r>
            <a:r>
              <a:rPr kumimoji="1" lang="en-US" altLang="zh-CN" dirty="0"/>
              <a:t>，</a:t>
            </a:r>
            <a:r>
              <a:rPr kumimoji="1" lang="zh-CN" altLang="en-US" dirty="0"/>
              <a:t>比如</a:t>
            </a:r>
            <a:r>
              <a:rPr kumimoji="1" lang="en-US" altLang="zh-CN" dirty="0"/>
              <a:t>fedavg，</a:t>
            </a:r>
            <a:r>
              <a:rPr kumimoji="1" lang="zh-CN" altLang="en-US" dirty="0"/>
              <a:t>对</a:t>
            </a:r>
            <a:r>
              <a:rPr kumimoji="1" lang="en-US" altLang="zh-CN" dirty="0"/>
              <a:t>transformer</a:t>
            </a:r>
            <a:r>
              <a:rPr kumimoji="1" lang="zh-CN" altLang="en-US" dirty="0"/>
              <a:t>的自注意力层有较大的性能上的影响</a:t>
            </a:r>
            <a:r>
              <a:rPr kumimoji="1" lang="en-US" altLang="zh-CN" dirty="0"/>
              <a:t>。</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为了探究模型聚合对自注意力的影响</a:t>
            </a:r>
            <a:r>
              <a:rPr kumimoji="1" lang="en-US" altLang="zh-CN" dirty="0"/>
              <a:t>，</a:t>
            </a:r>
            <a:r>
              <a:rPr kumimoji="1" lang="zh-CN" altLang="en-US" dirty="0"/>
              <a:t>本文使用三种不同的框架对</a:t>
            </a:r>
            <a:r>
              <a:rPr kumimoji="1" lang="en-US" altLang="zh-CN" dirty="0"/>
              <a:t>transformer</a:t>
            </a:r>
            <a:r>
              <a:rPr kumimoji="1" lang="zh-CN" altLang="en-US" dirty="0"/>
              <a:t>进行了实验</a:t>
            </a:r>
            <a:r>
              <a:rPr kumimoji="1" lang="en-US" altLang="zh-CN" dirty="0"/>
              <a:t>。</a:t>
            </a:r>
            <a:r>
              <a:rPr kumimoji="1" lang="zh-CN" altLang="en-US" dirty="0"/>
              <a:t>第一种</a:t>
            </a:r>
            <a:r>
              <a:rPr kumimoji="1" lang="en-US" altLang="zh-CN" dirty="0"/>
              <a:t>fedavg-T</a:t>
            </a:r>
            <a:r>
              <a:rPr kumimoji="1" lang="zh-CN" altLang="en-US" dirty="0"/>
              <a:t>是直接将</a:t>
            </a:r>
            <a:r>
              <a:rPr kumimoji="1" lang="en-US" altLang="zh-CN" dirty="0"/>
              <a:t>fedavg</a:t>
            </a:r>
            <a:r>
              <a:rPr kumimoji="1" lang="zh-CN" altLang="en-US" dirty="0"/>
              <a:t>应用到</a:t>
            </a:r>
            <a:r>
              <a:rPr kumimoji="1" lang="en-US" altLang="zh-CN" dirty="0"/>
              <a:t>transformer</a:t>
            </a:r>
            <a:r>
              <a:rPr kumimoji="1" lang="zh-CN" altLang="en-US" dirty="0"/>
              <a:t>上</a:t>
            </a:r>
            <a:r>
              <a:rPr kumimoji="1" lang="en-US" altLang="zh-CN" dirty="0"/>
              <a:t>。</a:t>
            </a:r>
            <a:r>
              <a:rPr kumimoji="1" lang="zh-CN" altLang="en-US" dirty="0"/>
              <a:t>第二种</a:t>
            </a:r>
            <a:r>
              <a:rPr kumimoji="1" lang="en-US" altLang="zh-CN" dirty="0"/>
              <a:t>Vanilla Personalized-T</a:t>
            </a:r>
            <a:r>
              <a:rPr kumimoji="1" lang="zh-CN" altLang="en-US" dirty="0"/>
              <a:t>是将</a:t>
            </a:r>
            <a:r>
              <a:rPr kumimoji="1" lang="en-US" altLang="zh-CN" dirty="0"/>
              <a:t>fedavg</a:t>
            </a:r>
            <a:r>
              <a:rPr kumimoji="1" lang="zh-CN" altLang="en-US" dirty="0"/>
              <a:t>应用到</a:t>
            </a:r>
            <a:r>
              <a:rPr kumimoji="1" lang="en-US" altLang="zh-CN" dirty="0"/>
              <a:t>transformer</a:t>
            </a:r>
            <a:r>
              <a:rPr kumimoji="1" lang="zh-CN" altLang="en-US" dirty="0"/>
              <a:t>上</a:t>
            </a:r>
            <a:r>
              <a:rPr kumimoji="1" lang="en-US" altLang="zh-CN" dirty="0"/>
              <a:t>，</a:t>
            </a:r>
            <a:r>
              <a:rPr kumimoji="1" lang="zh-CN" altLang="en-US" dirty="0"/>
              <a:t>但是不聚合注意力层</a:t>
            </a:r>
            <a:r>
              <a:rPr kumimoji="1" lang="en-US" altLang="zh-CN" dirty="0"/>
              <a:t>。</a:t>
            </a:r>
            <a:r>
              <a:rPr kumimoji="1" lang="zh-CN" altLang="en-US" dirty="0"/>
              <a:t>第三种是使用用户使用</a:t>
            </a:r>
            <a:r>
              <a:rPr kumimoji="1" lang="en-US" altLang="zh-CN" dirty="0"/>
              <a:t>transformer</a:t>
            </a:r>
            <a:r>
              <a:rPr kumimoji="1" lang="zh-CN" altLang="en-US" dirty="0"/>
              <a:t>训练</a:t>
            </a:r>
            <a:r>
              <a:rPr kumimoji="1" lang="en-US" altLang="zh-CN" dirty="0"/>
              <a:t>，</a:t>
            </a:r>
            <a:r>
              <a:rPr kumimoji="1" lang="zh-CN" altLang="en-US" dirty="0"/>
              <a:t>但从来不聚合</a:t>
            </a:r>
            <a:r>
              <a:rPr kumimoji="1" lang="en-US" altLang="zh-CN" dirty="0"/>
              <a:t>，</a:t>
            </a:r>
            <a:r>
              <a:rPr kumimoji="1" lang="zh-CN" altLang="en-US" dirty="0"/>
              <a:t>等价于于局部的深度学习</a:t>
            </a:r>
            <a:r>
              <a:rPr kumimoji="1" lang="en-US" altLang="zh-CN" dirty="0"/>
              <a:t>。</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这个实验使用的数据集是</a:t>
            </a:r>
            <a:r>
              <a:rPr kumimoji="1" lang="en-US" altLang="zh-CN" dirty="0"/>
              <a:t>CIFAR-100</a:t>
            </a:r>
            <a:r>
              <a:rPr kumimoji="1" lang="zh-CN" altLang="en-US" dirty="0"/>
              <a:t>数据集</a:t>
            </a:r>
            <a:r>
              <a:rPr kumimoji="1" lang="en-US" altLang="zh-CN" dirty="0"/>
              <a:t>。</a:t>
            </a:r>
            <a:r>
              <a:rPr kumimoji="1" lang="zh-CN" altLang="en-US" dirty="0"/>
              <a:t>每种框架都会有</a:t>
            </a:r>
            <a:r>
              <a:rPr kumimoji="1" lang="en-US" altLang="zh-CN" dirty="0"/>
              <a:t>5</a:t>
            </a:r>
            <a:r>
              <a:rPr kumimoji="1" lang="zh-CN" altLang="en-US" dirty="0"/>
              <a:t>个用户参与训练</a:t>
            </a:r>
            <a:r>
              <a:rPr kumimoji="1" lang="en-US" altLang="zh-CN" dirty="0"/>
              <a:t>，</a:t>
            </a:r>
            <a:r>
              <a:rPr kumimoji="1" lang="zh-CN" altLang="en-US" dirty="0"/>
              <a:t>每个用户的数据都是</a:t>
            </a:r>
            <a:r>
              <a:rPr kumimoji="1" lang="en-US" altLang="zh-CN" dirty="0"/>
              <a:t>non-IID</a:t>
            </a:r>
            <a:r>
              <a:rPr kumimoji="1" lang="zh-CN" altLang="en-US" dirty="0"/>
              <a:t>的，每个用户主要拥有</a:t>
            </a:r>
            <a:r>
              <a:rPr kumimoji="1" lang="en-US" altLang="zh-CN" dirty="0"/>
              <a:t>cifar100</a:t>
            </a:r>
            <a:r>
              <a:rPr kumimoji="1" lang="zh-CN" altLang="en-US" dirty="0"/>
              <a:t>中的一个标签类</a:t>
            </a:r>
            <a:r>
              <a:rPr kumimoji="1" lang="en-US" altLang="zh-CN" dirty="0"/>
              <a:t>。</a:t>
            </a:r>
            <a:r>
              <a:rPr kumimoji="1" lang="zh-CN" altLang="en-US" dirty="0"/>
              <a:t>使用</a:t>
            </a:r>
            <a:r>
              <a:rPr kumimoji="1" lang="en-US" altLang="zh-CN" dirty="0"/>
              <a:t>cifar100</a:t>
            </a:r>
            <a:r>
              <a:rPr kumimoji="1" lang="zh-CN" altLang="en-US" dirty="0"/>
              <a:t>中的原图与每种框架训练后得到的</a:t>
            </a:r>
            <a:r>
              <a:rPr kumimoji="1" lang="en-US" altLang="zh-CN" dirty="0"/>
              <a:t>attention map</a:t>
            </a:r>
            <a:r>
              <a:rPr kumimoji="1" lang="zh-CN" altLang="en-US" dirty="0"/>
              <a:t>进行对比</a:t>
            </a:r>
            <a:r>
              <a:rPr kumimoji="1" lang="en-US" altLang="zh-CN" dirty="0"/>
              <a:t>。</a:t>
            </a:r>
            <a:r>
              <a:rPr kumimoji="1" lang="zh-CN" altLang="en-US" dirty="0"/>
              <a:t>可以发现</a:t>
            </a:r>
            <a:r>
              <a:rPr kumimoji="1" lang="en-US" altLang="zh-CN" dirty="0"/>
              <a:t>Fedavg-T</a:t>
            </a:r>
            <a:r>
              <a:rPr kumimoji="1" lang="zh-CN" altLang="en-US" dirty="0"/>
              <a:t>的效果最差</a:t>
            </a:r>
            <a:r>
              <a:rPr kumimoji="1" lang="en-US" altLang="zh-CN" dirty="0"/>
              <a:t>，</a:t>
            </a:r>
            <a:r>
              <a:rPr kumimoji="1" lang="zh-CN" altLang="en-US" dirty="0"/>
              <a:t>主要是因为它过于强调全局</a:t>
            </a:r>
            <a:r>
              <a:rPr kumimoji="1" lang="en-US" altLang="zh-CN" dirty="0"/>
              <a:t>，</a:t>
            </a:r>
            <a:r>
              <a:rPr kumimoji="1" lang="zh-CN" altLang="en-US" dirty="0"/>
              <a:t>对于不同用户的数据和任务无法做到高效适应</a:t>
            </a:r>
            <a:r>
              <a:rPr kumimoji="1" lang="en-US" altLang="zh-CN" dirty="0"/>
              <a:t>。</a:t>
            </a:r>
            <a:r>
              <a:rPr kumimoji="1" lang="zh-CN" altLang="en-US" dirty="0"/>
              <a:t>效果最好的是</a:t>
            </a:r>
            <a:r>
              <a:rPr kumimoji="1" lang="en-US" altLang="zh-CN" dirty="0"/>
              <a:t>Local-T，</a:t>
            </a:r>
            <a:r>
              <a:rPr kumimoji="1" lang="zh-CN" altLang="en-US" dirty="0"/>
              <a:t>但它完全没有聚合</a:t>
            </a:r>
            <a:r>
              <a:rPr kumimoji="1" lang="en-US" altLang="zh-CN" dirty="0"/>
              <a:t>，</a:t>
            </a:r>
            <a:r>
              <a:rPr kumimoji="1" lang="zh-CN" altLang="en-US" dirty="0"/>
              <a:t>没有任何泛化性科研</a:t>
            </a:r>
            <a:r>
              <a:rPr kumimoji="1" lang="en-US" altLang="zh-CN" dirty="0"/>
              <a:t>，</a:t>
            </a:r>
            <a:r>
              <a:rPr kumimoji="1" lang="zh-CN" altLang="en-US" dirty="0"/>
              <a:t>不在联邦学习的考虑范围</a:t>
            </a:r>
            <a:r>
              <a:rPr kumimoji="1" lang="en-US" altLang="zh-CN" dirty="0"/>
              <a:t>。</a:t>
            </a:r>
            <a:r>
              <a:rPr kumimoji="1" lang="zh-CN" altLang="en-US" dirty="0"/>
              <a:t>而中间的这个</a:t>
            </a:r>
            <a:r>
              <a:rPr kumimoji="1" lang="en-US" altLang="zh-CN" dirty="0"/>
              <a:t>vanilla personalized-T</a:t>
            </a:r>
            <a:r>
              <a:rPr kumimoji="1" lang="zh-CN" altLang="en-US" dirty="0"/>
              <a:t>能既拥有良好的效果</a:t>
            </a:r>
            <a:r>
              <a:rPr kumimoji="1" lang="en-US" altLang="zh-CN" dirty="0"/>
              <a:t>，</a:t>
            </a:r>
            <a:r>
              <a:rPr kumimoji="1" lang="zh-CN" altLang="en-US" dirty="0"/>
              <a:t>也通过聚合考虑了全局的数据</a:t>
            </a:r>
            <a:r>
              <a:rPr kumimoji="1" lang="en-US" altLang="zh-CN" dirty="0"/>
              <a:t>。Vanilla</a:t>
            </a:r>
            <a:r>
              <a:rPr kumimoji="1" lang="zh-CN" altLang="en-US" dirty="0"/>
              <a:t>在深度学习中表示最初的，原始的意思，它其实是这篇文章提出的框架</a:t>
            </a:r>
            <a:r>
              <a:rPr kumimoji="1" lang="en-US" altLang="zh-CN" dirty="0" err="1"/>
              <a:t>FedTP</a:t>
            </a:r>
            <a:r>
              <a:rPr kumimoji="1" lang="zh-CN" altLang="en-US" dirty="0"/>
              <a:t>的最原始的结构。</a:t>
            </a:r>
            <a:endParaRPr kumimoji="1" lang="en-US" altLang="zh-CN"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en-US" altLang="zh-CN" dirty="0">
                <a:sym typeface="+mn-ea"/>
              </a:rPr>
              <a:t>vanilla personalized-T</a:t>
            </a:r>
            <a:r>
              <a:rPr kumimoji="1" lang="zh-CN" altLang="en-US" dirty="0">
                <a:sym typeface="+mn-ea"/>
              </a:rPr>
              <a:t>的算法示意图就类似于这幅图左边展示的</a:t>
            </a:r>
            <a:r>
              <a:rPr kumimoji="1" lang="en-US" altLang="zh-CN" dirty="0">
                <a:sym typeface="+mn-ea"/>
              </a:rPr>
              <a:t>。</a:t>
            </a:r>
            <a:r>
              <a:rPr kumimoji="1" lang="zh-CN" altLang="en-US" dirty="0">
                <a:sym typeface="+mn-ea"/>
              </a:rPr>
              <a:t>灰色的层代表的是参与模型聚合的部分</a:t>
            </a:r>
            <a:r>
              <a:rPr kumimoji="1" lang="en-US" altLang="zh-CN" dirty="0">
                <a:sym typeface="+mn-ea"/>
              </a:rPr>
              <a:t>，</a:t>
            </a:r>
            <a:r>
              <a:rPr kumimoji="1" lang="zh-CN" altLang="en-US" dirty="0">
                <a:sym typeface="+mn-ea"/>
              </a:rPr>
              <a:t>然后彩色的自注意力层是不参与聚合</a:t>
            </a:r>
            <a:r>
              <a:rPr kumimoji="1" lang="en-US" altLang="zh-CN" dirty="0">
                <a:sym typeface="+mn-ea"/>
              </a:rPr>
              <a:t>，</a:t>
            </a:r>
            <a:r>
              <a:rPr kumimoji="1" lang="zh-CN" altLang="en-US" dirty="0">
                <a:sym typeface="+mn-ea"/>
              </a:rPr>
              <a:t>每个用户独自训练的部分</a:t>
            </a:r>
            <a:r>
              <a:rPr kumimoji="1" lang="en-US" altLang="zh-CN" dirty="0">
                <a:sym typeface="+mn-ea"/>
              </a:rPr>
              <a:t>。</a:t>
            </a:r>
            <a:r>
              <a:rPr kumimoji="1" lang="zh-CN" altLang="en-US" dirty="0">
                <a:sym typeface="+mn-ea"/>
              </a:rPr>
              <a:t>但是仅仅让用户独自训练自注意力层仍然不是最优的</a:t>
            </a:r>
            <a:r>
              <a:rPr kumimoji="1" lang="en-US" altLang="zh-CN" dirty="0">
                <a:sym typeface="+mn-ea"/>
              </a:rPr>
              <a:t>，</a:t>
            </a:r>
            <a:r>
              <a:rPr kumimoji="1" lang="zh-CN" altLang="en-US" dirty="0">
                <a:sym typeface="+mn-ea"/>
              </a:rPr>
              <a:t>接下来我们使用数学公式表达如何从</a:t>
            </a:r>
            <a:r>
              <a:rPr kumimoji="1" lang="en-US" altLang="zh-CN" dirty="0">
                <a:sym typeface="+mn-ea"/>
              </a:rPr>
              <a:t>vanilla personalized-T</a:t>
            </a:r>
            <a:r>
              <a:rPr kumimoji="1" lang="zh-CN" altLang="en-US" dirty="0">
                <a:sym typeface="+mn-ea"/>
              </a:rPr>
              <a:t>得到本文的最终框架</a:t>
            </a:r>
            <a:r>
              <a:rPr kumimoji="1" lang="en-US" altLang="zh-CN" dirty="0">
                <a:sym typeface="+mn-ea"/>
              </a:rPr>
              <a:t>FedTP。</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假设自注意力层的参数是</a:t>
            </a:r>
            <a:r>
              <a:rPr kumimoji="1" lang="en-US" altLang="zh-CN" dirty="0"/>
              <a:t>W，</a:t>
            </a:r>
            <a:r>
              <a:rPr kumimoji="1" lang="zh-CN" altLang="en-US" dirty="0"/>
              <a:t>它由三部分组成</a:t>
            </a:r>
            <a:r>
              <a:rPr kumimoji="1" lang="en-US" altLang="zh-CN" dirty="0"/>
              <a:t>，</a:t>
            </a:r>
            <a:r>
              <a:rPr kumimoji="1" lang="zh-CN" altLang="en-US" dirty="0"/>
              <a:t>分别是</a:t>
            </a:r>
            <a:r>
              <a:rPr kumimoji="1" lang="en-US" altLang="zh-CN" dirty="0"/>
              <a:t>WQ,WK,WV,H</a:t>
            </a:r>
            <a:r>
              <a:rPr kumimoji="1" lang="zh-CN" altLang="en-US" dirty="0"/>
              <a:t>是用户数据被分割、处理之后得到的嵌入矩阵</a:t>
            </a:r>
            <a:r>
              <a:rPr kumimoji="1" lang="en-US" altLang="zh-CN" dirty="0"/>
              <a:t>。Q,K,V</a:t>
            </a:r>
            <a:r>
              <a:rPr kumimoji="1" lang="zh-CN" altLang="en-US" dirty="0"/>
              <a:t>分别代表自注意力层机制的</a:t>
            </a:r>
            <a:r>
              <a:rPr kumimoji="1" lang="en-US" altLang="zh-CN" dirty="0"/>
              <a:t>queries, keys </a:t>
            </a:r>
            <a:r>
              <a:rPr kumimoji="1" lang="zh-CN" altLang="en-US" dirty="0"/>
              <a:t>和</a:t>
            </a:r>
            <a:r>
              <a:rPr kumimoji="1" lang="en-US" altLang="zh-CN" dirty="0"/>
              <a:t>values。</a:t>
            </a:r>
            <a:r>
              <a:rPr kumimoji="1" lang="zh-CN" altLang="en-US" dirty="0"/>
              <a:t>那么它的注意力就可以表达为</a:t>
            </a:r>
            <a:r>
              <a:rPr kumimoji="1" lang="en-US" altLang="zh-CN" dirty="0"/>
              <a:t>QKV</a:t>
            </a:r>
            <a:r>
              <a:rPr kumimoji="1" lang="zh-CN" altLang="en-US" dirty="0"/>
              <a:t>与</a:t>
            </a:r>
            <a:r>
              <a:rPr kumimoji="1" lang="en-US" altLang="zh-CN" dirty="0"/>
              <a:t>softmax</a:t>
            </a:r>
            <a:r>
              <a:rPr kumimoji="1" lang="zh-CN" altLang="en-US" dirty="0"/>
              <a:t>函数的一个组合</a:t>
            </a:r>
            <a:r>
              <a:rPr kumimoji="1" lang="en-US" altLang="zh-CN" dirty="0"/>
              <a:t>。</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此外</a:t>
            </a:r>
            <a:r>
              <a:rPr kumimoji="1" lang="en-US" altLang="zh-CN" dirty="0"/>
              <a:t>，</a:t>
            </a:r>
            <a:r>
              <a:rPr kumimoji="1" lang="zh-CN" altLang="en-US" dirty="0"/>
              <a:t>我们还令参与训练的用户</a:t>
            </a:r>
            <a:r>
              <a:rPr kumimoji="1" lang="en-US" altLang="zh-CN" dirty="0"/>
              <a:t>i</a:t>
            </a:r>
            <a:r>
              <a:rPr kumimoji="1" lang="zh-CN" altLang="en-US" dirty="0"/>
              <a:t>的数据为</a:t>
            </a:r>
            <a:r>
              <a:rPr kumimoji="1" lang="en-US" altLang="zh-CN" dirty="0"/>
              <a:t>Di,Di</a:t>
            </a:r>
            <a:r>
              <a:rPr kumimoji="1" lang="zh-CN" altLang="en-US" dirty="0"/>
              <a:t>中每一个数据是用</a:t>
            </a:r>
            <a:r>
              <a:rPr kumimoji="1" lang="en-US" altLang="zh-CN" dirty="0"/>
              <a:t>xy</a:t>
            </a:r>
            <a:r>
              <a:rPr kumimoji="1" lang="zh-CN" altLang="en-US" dirty="0"/>
              <a:t>表示</a:t>
            </a:r>
            <a:r>
              <a:rPr kumimoji="1" lang="en-US" altLang="zh-CN" dirty="0"/>
              <a:t>，x</a:t>
            </a:r>
            <a:r>
              <a:rPr kumimoji="1" lang="zh-CN" altLang="en-US" dirty="0"/>
              <a:t>是</a:t>
            </a:r>
            <a:r>
              <a:rPr kumimoji="1" lang="en-US" altLang="zh-CN" dirty="0"/>
              <a:t>feature，y</a:t>
            </a:r>
            <a:r>
              <a:rPr kumimoji="1" lang="zh-CN" altLang="en-US" dirty="0"/>
              <a:t>是</a:t>
            </a:r>
            <a:r>
              <a:rPr kumimoji="1" lang="en-US" altLang="zh-CN" dirty="0"/>
              <a:t>label。</a:t>
            </a:r>
            <a:r>
              <a:rPr kumimoji="1" lang="zh-CN" altLang="en-US" dirty="0"/>
              <a:t>那么整个联邦学习任务的优化目标被定义为对于每一个模型</a:t>
            </a:r>
            <a:r>
              <a:rPr kumimoji="1" lang="en-US" altLang="zh-CN" dirty="0"/>
              <a:t>theta-i，</a:t>
            </a:r>
            <a:r>
              <a:rPr kumimoji="1" lang="zh-CN" altLang="en-US" dirty="0"/>
              <a:t>对于所有用户</a:t>
            </a:r>
            <a:r>
              <a:rPr kumimoji="1" lang="en-US" altLang="zh-CN" dirty="0"/>
              <a:t>i，</a:t>
            </a:r>
            <a:r>
              <a:rPr kumimoji="1" lang="zh-CN" altLang="en-US" dirty="0"/>
              <a:t>使得每一个模型</a:t>
            </a:r>
            <a:r>
              <a:rPr kumimoji="1" lang="en-US" altLang="zh-CN" dirty="0"/>
              <a:t>theta-i</a:t>
            </a:r>
            <a:r>
              <a:rPr kumimoji="1" lang="zh-CN" altLang="en-US" dirty="0"/>
              <a:t>对应的损失函数的平均值最小</a:t>
            </a:r>
            <a:r>
              <a:rPr kumimoji="1" lang="en-US" altLang="zh-CN" dirty="0"/>
              <a:t>。</a:t>
            </a:r>
            <a:r>
              <a:rPr kumimoji="1" lang="zh-CN" altLang="en-US" dirty="0"/>
              <a:t>这里的</a:t>
            </a:r>
            <a:r>
              <a:rPr kumimoji="1" lang="en-US" altLang="zh-CN" dirty="0"/>
              <a:t>m-i</a:t>
            </a:r>
            <a:r>
              <a:rPr kumimoji="1" lang="zh-CN" altLang="en-US" dirty="0"/>
              <a:t>是每个用户的数据量</a:t>
            </a:r>
            <a:r>
              <a:rPr kumimoji="1" lang="en-US" altLang="zh-CN" dirty="0"/>
              <a:t>，</a:t>
            </a:r>
            <a:r>
              <a:rPr kumimoji="1" lang="zh-CN" altLang="en-US" dirty="0"/>
              <a:t>大</a:t>
            </a:r>
            <a:r>
              <a:rPr kumimoji="1" lang="en-US" altLang="zh-CN" dirty="0"/>
              <a:t>M</a:t>
            </a:r>
            <a:r>
              <a:rPr kumimoji="1" lang="zh-CN" altLang="en-US" dirty="0"/>
              <a:t>是所有用户的总数据量</a:t>
            </a:r>
            <a:r>
              <a:rPr kumimoji="1" lang="en-US" altLang="zh-CN" dirty="0"/>
              <a:t>。</a:t>
            </a:r>
            <a:r>
              <a:rPr kumimoji="1" lang="zh-CN" altLang="en-US" dirty="0"/>
              <a:t>损失函数大</a:t>
            </a:r>
            <a:r>
              <a:rPr kumimoji="1" lang="en-US" altLang="zh-CN" dirty="0"/>
              <a:t>L</a:t>
            </a:r>
            <a:r>
              <a:rPr kumimoji="1" lang="zh-CN" altLang="en-US" dirty="0"/>
              <a:t>的定义是用户的专属模型</a:t>
            </a:r>
            <a:r>
              <a:rPr kumimoji="1" lang="en-US" altLang="zh-CN" dirty="0"/>
              <a:t>theta-i</a:t>
            </a:r>
            <a:r>
              <a:rPr kumimoji="1" lang="zh-CN" altLang="en-US" dirty="0"/>
              <a:t>对用户</a:t>
            </a:r>
            <a:r>
              <a:rPr kumimoji="1" lang="en-US" altLang="zh-CN" dirty="0"/>
              <a:t>i</a:t>
            </a:r>
            <a:r>
              <a:rPr kumimoji="1" lang="zh-CN" altLang="en-US" dirty="0"/>
              <a:t>所有数据的损失的期望</a:t>
            </a:r>
            <a:r>
              <a:rPr kumimoji="1" lang="en-US" altLang="zh-CN" dirty="0"/>
              <a:t>。</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按照上面的逻辑</a:t>
            </a:r>
            <a:r>
              <a:rPr kumimoji="1" lang="en-US" altLang="zh-CN" dirty="0"/>
              <a:t>，</a:t>
            </a:r>
            <a:r>
              <a:rPr kumimoji="1" lang="zh-CN" altLang="en-US" dirty="0"/>
              <a:t>我们可以描述</a:t>
            </a:r>
            <a:r>
              <a:rPr kumimoji="1" lang="en-US" altLang="zh-CN" dirty="0"/>
              <a:t>vanilla personalization。</a:t>
            </a:r>
            <a:r>
              <a:rPr kumimoji="1" lang="zh-CN" altLang="en-US" dirty="0"/>
              <a:t>在这里</a:t>
            </a:r>
            <a:r>
              <a:rPr kumimoji="1" lang="en-US" altLang="zh-CN" dirty="0"/>
              <a:t>，</a:t>
            </a:r>
            <a:r>
              <a:rPr kumimoji="1" lang="zh-CN" altLang="en-US" dirty="0"/>
              <a:t>每一个用户的模型</a:t>
            </a:r>
            <a:r>
              <a:rPr kumimoji="1" lang="en-US" altLang="zh-CN" dirty="0"/>
              <a:t>theta-i</a:t>
            </a:r>
            <a:r>
              <a:rPr kumimoji="1" lang="zh-CN" altLang="en-US" dirty="0"/>
              <a:t>被代替为了</a:t>
            </a:r>
            <a:r>
              <a:rPr kumimoji="1" lang="en-US" altLang="zh-CN" dirty="0"/>
              <a:t>W-i</a:t>
            </a:r>
            <a:r>
              <a:rPr kumimoji="1" lang="zh-CN" altLang="en-US" dirty="0"/>
              <a:t>和</a:t>
            </a:r>
            <a:r>
              <a:rPr kumimoji="1" lang="en-US" altLang="zh-CN" dirty="0"/>
              <a:t>zeta，W-i</a:t>
            </a:r>
            <a:r>
              <a:rPr kumimoji="1" lang="zh-CN" altLang="en-US" dirty="0"/>
              <a:t>是每个用户专有的自注意力层</a:t>
            </a:r>
            <a:r>
              <a:rPr kumimoji="1" lang="en-US" altLang="zh-CN" dirty="0"/>
              <a:t>，zeta</a:t>
            </a:r>
            <a:r>
              <a:rPr kumimoji="1" lang="zh-CN" altLang="en-US" dirty="0"/>
              <a:t>代表其他层</a:t>
            </a:r>
            <a:r>
              <a:rPr kumimoji="1" lang="en-US" altLang="zh-CN" dirty="0"/>
              <a:t>，zeta</a:t>
            </a:r>
            <a:r>
              <a:rPr kumimoji="1" lang="zh-CN" altLang="en-US" dirty="0"/>
              <a:t>是全局模型</a:t>
            </a:r>
            <a:r>
              <a:rPr kumimoji="1" lang="en-US" altLang="zh-CN" dirty="0"/>
              <a:t>，</a:t>
            </a:r>
            <a:r>
              <a:rPr kumimoji="1" lang="zh-CN" altLang="en-US" dirty="0"/>
              <a:t>所有用户使用同一个</a:t>
            </a:r>
            <a:r>
              <a:rPr kumimoji="1" lang="en-US" altLang="zh-CN" dirty="0"/>
              <a:t>zeta。</a:t>
            </a:r>
            <a:r>
              <a:rPr kumimoji="1" lang="zh-CN" altLang="en-US" dirty="0"/>
              <a:t>在每轮训练结束以后</a:t>
            </a:r>
            <a:r>
              <a:rPr kumimoji="1" lang="en-US" altLang="zh-CN" dirty="0"/>
              <a:t>，</a:t>
            </a:r>
            <a:r>
              <a:rPr kumimoji="1" lang="zh-CN" altLang="en-US" dirty="0"/>
              <a:t>只聚合</a:t>
            </a:r>
            <a:r>
              <a:rPr kumimoji="1" lang="en-US" altLang="zh-CN" dirty="0"/>
              <a:t>zeta。</a:t>
            </a:r>
            <a:r>
              <a:rPr kumimoji="1" lang="zh-CN" altLang="en-US" dirty="0"/>
              <a:t>它的优化目标没有改变</a:t>
            </a:r>
            <a:r>
              <a:rPr kumimoji="1" lang="en-US" altLang="zh-CN" dirty="0"/>
              <a:t>，</a:t>
            </a:r>
            <a:r>
              <a:rPr kumimoji="1" lang="zh-CN" altLang="en-US" dirty="0"/>
              <a:t>只是将</a:t>
            </a:r>
            <a:r>
              <a:rPr kumimoji="1" lang="en-US" altLang="zh-CN" dirty="0"/>
              <a:t>theta-i</a:t>
            </a:r>
            <a:r>
              <a:rPr kumimoji="1" lang="zh-CN" altLang="en-US" dirty="0"/>
              <a:t>换成了</a:t>
            </a:r>
            <a:r>
              <a:rPr kumimoji="1" lang="en-US" altLang="zh-CN" dirty="0"/>
              <a:t>W-i</a:t>
            </a:r>
            <a:r>
              <a:rPr kumimoji="1" lang="zh-CN" altLang="en-US" dirty="0"/>
              <a:t>和</a:t>
            </a:r>
            <a:r>
              <a:rPr kumimoji="1" lang="en-US" altLang="zh-CN" dirty="0"/>
              <a:t>zeta。</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但是像</a:t>
            </a:r>
            <a:r>
              <a:rPr kumimoji="1" lang="en-US" altLang="zh-CN" dirty="0"/>
              <a:t>vanilla personalization</a:t>
            </a:r>
            <a:r>
              <a:rPr kumimoji="1" lang="zh-CN" altLang="en-US" dirty="0"/>
              <a:t>这样做是有代价的</a:t>
            </a:r>
            <a:r>
              <a:rPr kumimoji="1" lang="en-US" altLang="zh-CN" dirty="0"/>
              <a:t>。</a:t>
            </a:r>
            <a:r>
              <a:rPr kumimoji="1" lang="zh-CN" altLang="en-US" dirty="0"/>
              <a:t>第一点是因为</a:t>
            </a:r>
            <a:r>
              <a:rPr kumimoji="1" lang="en-US" altLang="zh-CN" dirty="0"/>
              <a:t>transform</a:t>
            </a:r>
            <a:r>
              <a:rPr kumimoji="1" lang="zh-CN" altLang="en-US" dirty="0"/>
              <a:t>绝大部分的计算量都在自注意力层上</a:t>
            </a:r>
            <a:r>
              <a:rPr kumimoji="1" lang="en-US" altLang="zh-CN" dirty="0"/>
              <a:t>，</a:t>
            </a:r>
            <a:r>
              <a:rPr kumimoji="1" lang="zh-CN" altLang="en-US" dirty="0"/>
              <a:t>如果对自注意力层完全不聚合</a:t>
            </a:r>
            <a:r>
              <a:rPr kumimoji="1" lang="en-US" altLang="zh-CN" dirty="0"/>
              <a:t>，</a:t>
            </a:r>
            <a:r>
              <a:rPr kumimoji="1" lang="zh-CN" altLang="en-US" dirty="0"/>
              <a:t>就无法得到最优的模型</a:t>
            </a:r>
            <a:r>
              <a:rPr kumimoji="1" lang="en-US" altLang="zh-CN" dirty="0"/>
              <a:t>。</a:t>
            </a:r>
            <a:r>
              <a:rPr kumimoji="1" lang="zh-CN" altLang="en-US" dirty="0"/>
              <a:t>第二点是每个用户的自注意力层的生成机制太死板</a:t>
            </a:r>
            <a:r>
              <a:rPr kumimoji="1" lang="en-US" altLang="zh-CN" dirty="0"/>
              <a:t>，</a:t>
            </a:r>
            <a:r>
              <a:rPr kumimoji="1" lang="zh-CN" altLang="en-US" dirty="0"/>
              <a:t>自注意力层的总体的参数量是和用户数之间呈现线性关系的</a:t>
            </a:r>
            <a:r>
              <a:rPr kumimoji="1" lang="en-US" altLang="zh-CN" dirty="0"/>
              <a:t>。3.</a:t>
            </a:r>
            <a:r>
              <a:rPr kumimoji="1" lang="zh-CN" altLang="en-US" dirty="0"/>
              <a:t>按照这个训练逻辑</a:t>
            </a:r>
            <a:r>
              <a:rPr kumimoji="1" lang="en-US" altLang="zh-CN" dirty="0"/>
              <a:t>，</a:t>
            </a:r>
            <a:r>
              <a:rPr kumimoji="1" lang="zh-CN" altLang="en-US" dirty="0"/>
              <a:t>每当有用户新加入时</a:t>
            </a:r>
            <a:r>
              <a:rPr kumimoji="1" lang="en-US" altLang="zh-CN" dirty="0"/>
              <a:t>，</a:t>
            </a:r>
            <a:r>
              <a:rPr kumimoji="1" lang="zh-CN" altLang="en-US" dirty="0"/>
              <a:t>必须重新训练新用户的自注意力层</a:t>
            </a:r>
            <a:r>
              <a:rPr kumimoji="1" lang="en-US" altLang="zh-CN" dirty="0"/>
              <a:t>，</a:t>
            </a:r>
            <a:r>
              <a:rPr kumimoji="1" lang="zh-CN" altLang="en-US" dirty="0"/>
              <a:t>泛化性很差</a:t>
            </a:r>
            <a:r>
              <a:rPr kumimoji="1" lang="en-US" altLang="zh-CN" dirty="0"/>
              <a:t>。</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针对这个问题</a:t>
            </a:r>
            <a:r>
              <a:rPr kumimoji="1" lang="en-US" altLang="zh-CN" dirty="0"/>
              <a:t>，</a:t>
            </a:r>
            <a:r>
              <a:rPr kumimoji="1" lang="zh-CN" altLang="en-US" dirty="0"/>
              <a:t>本文在设计</a:t>
            </a:r>
            <a:r>
              <a:rPr kumimoji="1" lang="en-US" altLang="zh-CN" dirty="0"/>
              <a:t>FedTP</a:t>
            </a:r>
            <a:r>
              <a:rPr kumimoji="1" lang="zh-CN" altLang="en-US" dirty="0"/>
              <a:t>的时候加入了如图所示右半部分的训练机制</a:t>
            </a:r>
            <a:r>
              <a:rPr kumimoji="1" lang="en-US" altLang="zh-CN" dirty="0"/>
              <a:t>，</a:t>
            </a:r>
            <a:r>
              <a:rPr kumimoji="1" lang="zh-CN" altLang="en-US" dirty="0"/>
              <a:t>叫做超网络</a:t>
            </a:r>
            <a:r>
              <a:rPr kumimoji="1" lang="en-US" altLang="zh-CN" dirty="0"/>
              <a:t>。</a:t>
            </a:r>
            <a:r>
              <a:rPr kumimoji="1" lang="zh-CN" altLang="en-US" dirty="0"/>
              <a:t>一般深度学习中的模型是用来生成</a:t>
            </a:r>
            <a:r>
              <a:rPr kumimoji="1" lang="en-US" altLang="zh-CN" dirty="0"/>
              <a:t>label</a:t>
            </a:r>
            <a:r>
              <a:rPr kumimoji="1" lang="zh-CN" altLang="en-US" dirty="0"/>
              <a:t>的</a:t>
            </a:r>
            <a:r>
              <a:rPr kumimoji="1" lang="en-US" altLang="zh-CN" dirty="0"/>
              <a:t>，</a:t>
            </a:r>
            <a:r>
              <a:rPr kumimoji="1" lang="zh-CN" altLang="en-US" dirty="0"/>
              <a:t>但是超网络的模型是用来生成模型参数的</a:t>
            </a:r>
            <a:r>
              <a:rPr kumimoji="1" lang="en-US" altLang="zh-CN" dirty="0"/>
              <a:t>，</a:t>
            </a:r>
            <a:r>
              <a:rPr kumimoji="1" lang="zh-CN" altLang="en-US" dirty="0"/>
              <a:t>它生成的模型参数会被用来得到预测值</a:t>
            </a:r>
            <a:r>
              <a:rPr kumimoji="1" lang="en-US" altLang="zh-CN" dirty="0"/>
              <a:t>。</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我们在刚刚</a:t>
            </a:r>
            <a:r>
              <a:rPr kumimoji="1" lang="en-US" altLang="zh-CN" dirty="0"/>
              <a:t>vanilla personalization</a:t>
            </a:r>
            <a:r>
              <a:rPr kumimoji="1" lang="zh-CN" altLang="en-US" dirty="0"/>
              <a:t>的基础上加上超网络</a:t>
            </a:r>
            <a:r>
              <a:rPr kumimoji="1" lang="en-US" altLang="zh-CN" dirty="0"/>
              <a:t>。</a:t>
            </a:r>
            <a:r>
              <a:rPr kumimoji="1" lang="zh-CN" altLang="en-US" dirty="0"/>
              <a:t>也就是自注意力层的参数</a:t>
            </a:r>
            <a:r>
              <a:rPr kumimoji="1" lang="en-US" altLang="zh-CN" dirty="0"/>
              <a:t>W-i</a:t>
            </a:r>
            <a:r>
              <a:rPr kumimoji="1" lang="zh-CN" altLang="en-US" dirty="0"/>
              <a:t>由超网络</a:t>
            </a:r>
            <a:r>
              <a:rPr kumimoji="1" lang="en-US" altLang="zh-CN" dirty="0"/>
              <a:t>h</a:t>
            </a:r>
            <a:r>
              <a:rPr kumimoji="1" lang="zh-CN" altLang="en-US" dirty="0"/>
              <a:t>来生成</a:t>
            </a:r>
            <a:r>
              <a:rPr kumimoji="1" lang="en-US" altLang="zh-CN" dirty="0"/>
              <a:t>，</a:t>
            </a:r>
            <a:r>
              <a:rPr kumimoji="1" lang="zh-CN" altLang="en-US" dirty="0"/>
              <a:t>其中</a:t>
            </a:r>
            <a:r>
              <a:rPr kumimoji="1" lang="en-US" altLang="zh-CN" dirty="0"/>
              <a:t>phi</a:t>
            </a:r>
            <a:r>
              <a:rPr kumimoji="1" lang="zh-CN" altLang="en-US" dirty="0"/>
              <a:t>是超网络</a:t>
            </a:r>
            <a:r>
              <a:rPr kumimoji="1" lang="en-US" altLang="zh-CN" dirty="0"/>
              <a:t>h</a:t>
            </a:r>
            <a:r>
              <a:rPr kumimoji="1" lang="zh-CN" altLang="en-US" dirty="0"/>
              <a:t>的参数</a:t>
            </a:r>
            <a:r>
              <a:rPr kumimoji="1" lang="en-US" altLang="zh-CN" dirty="0"/>
              <a:t>，zi</a:t>
            </a:r>
            <a:r>
              <a:rPr kumimoji="1" lang="zh-CN" altLang="en-US" dirty="0"/>
              <a:t>是与每个用户相关的系数</a:t>
            </a:r>
            <a:r>
              <a:rPr kumimoji="1" lang="en-US" altLang="zh-CN" dirty="0"/>
              <a:t>，phi</a:t>
            </a:r>
            <a:r>
              <a:rPr kumimoji="1" lang="zh-CN" altLang="en-US" dirty="0"/>
              <a:t>和</a:t>
            </a:r>
            <a:r>
              <a:rPr kumimoji="1" lang="en-US" altLang="zh-CN" dirty="0"/>
              <a:t>zi</a:t>
            </a:r>
            <a:r>
              <a:rPr kumimoji="1" lang="zh-CN" altLang="en-US" dirty="0"/>
              <a:t>共同生成适合用户</a:t>
            </a:r>
            <a:r>
              <a:rPr kumimoji="1" lang="en-US" altLang="zh-CN" dirty="0"/>
              <a:t>i</a:t>
            </a:r>
            <a:r>
              <a:rPr kumimoji="1" lang="zh-CN" altLang="en-US" dirty="0"/>
              <a:t>的自注意力层参数</a:t>
            </a:r>
            <a:r>
              <a:rPr kumimoji="1" lang="en-US" altLang="zh-CN" dirty="0"/>
              <a:t>W-i。</a:t>
            </a:r>
            <a:r>
              <a:rPr kumimoji="1" lang="zh-CN" altLang="en-US" dirty="0"/>
              <a:t>除此之外</a:t>
            </a:r>
            <a:r>
              <a:rPr kumimoji="1" lang="en-US" altLang="zh-CN" dirty="0"/>
              <a:t>，</a:t>
            </a:r>
            <a:r>
              <a:rPr kumimoji="1" lang="zh-CN" altLang="en-US" dirty="0"/>
              <a:t>模型的聚合逻辑和优化目标没有改变</a:t>
            </a:r>
            <a:r>
              <a:rPr kumimoji="1" lang="en-US" altLang="zh-CN" dirty="0"/>
              <a:t>。</a:t>
            </a:r>
          </a:p>
          <a:p>
            <a:endParaRPr kumimoji="1" lang="en-US" altLang="zh-CN"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接下来来看</a:t>
            </a:r>
            <a:r>
              <a:rPr kumimoji="1" lang="en-US" altLang="zh-CN" dirty="0"/>
              <a:t>FedTP</a:t>
            </a:r>
            <a:r>
              <a:rPr kumimoji="1" lang="zh-CN" altLang="en-US" dirty="0"/>
              <a:t>的训练过程</a:t>
            </a:r>
            <a:r>
              <a:rPr kumimoji="1" lang="en-US" altLang="zh-CN" dirty="0"/>
              <a:t>，</a:t>
            </a:r>
            <a:r>
              <a:rPr kumimoji="1" lang="zh-CN" altLang="en-US" dirty="0"/>
              <a:t>其实和</a:t>
            </a:r>
            <a:r>
              <a:rPr kumimoji="1" lang="en-US" altLang="zh-CN" dirty="0"/>
              <a:t>fedavg</a:t>
            </a:r>
            <a:r>
              <a:rPr kumimoji="1" lang="zh-CN" altLang="en-US" dirty="0"/>
              <a:t>的训练过程很像</a:t>
            </a:r>
            <a:r>
              <a:rPr kumimoji="1" lang="en-US" altLang="zh-CN" dirty="0"/>
              <a:t>，</a:t>
            </a:r>
            <a:r>
              <a:rPr kumimoji="1" lang="zh-CN" altLang="en-US" dirty="0"/>
              <a:t>主要包括模型和参数的初始化</a:t>
            </a:r>
            <a:r>
              <a:rPr kumimoji="1" lang="en-US" altLang="zh-CN" dirty="0"/>
              <a:t>，</a:t>
            </a:r>
            <a:r>
              <a:rPr kumimoji="1" lang="zh-CN" altLang="en-US" dirty="0"/>
              <a:t>模型的训练</a:t>
            </a:r>
            <a:r>
              <a:rPr kumimoji="1" lang="en-US" altLang="zh-CN" dirty="0"/>
              <a:t>，</a:t>
            </a:r>
            <a:r>
              <a:rPr kumimoji="1" lang="zh-CN" altLang="en-US" dirty="0"/>
              <a:t>模型的聚合等等</a:t>
            </a:r>
            <a:r>
              <a:rPr kumimoji="1" lang="en-US" altLang="zh-CN" dirty="0"/>
              <a:t>。</a:t>
            </a:r>
            <a:r>
              <a:rPr kumimoji="1" lang="zh-CN" altLang="en-US" dirty="0"/>
              <a:t>它与</a:t>
            </a:r>
            <a:r>
              <a:rPr kumimoji="1" lang="en-US" altLang="zh-CN" dirty="0"/>
              <a:t>fedavg</a:t>
            </a:r>
            <a:r>
              <a:rPr kumimoji="1" lang="zh-CN" altLang="en-US" dirty="0"/>
              <a:t>在训练上最大的不同就是</a:t>
            </a:r>
            <a:r>
              <a:rPr kumimoji="1" lang="en-US" altLang="zh-CN" dirty="0"/>
              <a:t>，</a:t>
            </a:r>
            <a:r>
              <a:rPr kumimoji="1" lang="zh-CN" altLang="en-US" dirty="0"/>
              <a:t>它增加了对超网络的聚合部分</a:t>
            </a:r>
            <a:r>
              <a:rPr kumimoji="1" lang="en-US" altLang="zh-CN" dirty="0"/>
              <a:t>。</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超网络的聚合逻辑是这样</a:t>
            </a:r>
            <a:r>
              <a:rPr kumimoji="1" lang="en-US" altLang="zh-CN" dirty="0"/>
              <a:t>，</a:t>
            </a:r>
            <a:r>
              <a:rPr kumimoji="1" lang="zh-CN" altLang="en-US" dirty="0"/>
              <a:t>当每一轮所有要参与训练的用户都参与了以后</a:t>
            </a:r>
            <a:r>
              <a:rPr kumimoji="1" lang="en-US" altLang="zh-CN" dirty="0"/>
              <a:t>，</a:t>
            </a:r>
            <a:r>
              <a:rPr kumimoji="1" lang="zh-CN" altLang="en-US" dirty="0"/>
              <a:t>首先会计算当前自注意力层与本轮训练前的差异</a:t>
            </a:r>
            <a:r>
              <a:rPr kumimoji="1" lang="en-US" altLang="zh-CN" dirty="0"/>
              <a:t>，</a:t>
            </a:r>
            <a:r>
              <a:rPr kumimoji="1" lang="zh-CN" altLang="en-US" dirty="0"/>
              <a:t>计作</a:t>
            </a:r>
            <a:r>
              <a:rPr kumimoji="1" lang="en-US" altLang="zh-CN" dirty="0"/>
              <a:t>A，</a:t>
            </a:r>
            <a:r>
              <a:rPr kumimoji="1" lang="zh-CN" altLang="en-US" dirty="0"/>
              <a:t>然后使用这个</a:t>
            </a:r>
            <a:r>
              <a:rPr kumimoji="1" lang="en-US" altLang="zh-CN" dirty="0"/>
              <a:t>A</a:t>
            </a:r>
            <a:r>
              <a:rPr kumimoji="1" lang="zh-CN" altLang="en-US" dirty="0"/>
              <a:t>来计算损失函数关于</a:t>
            </a:r>
            <a:r>
              <a:rPr kumimoji="1" lang="en-US" altLang="zh-CN" dirty="0"/>
              <a:t>phi</a:t>
            </a:r>
            <a:r>
              <a:rPr kumimoji="1" lang="zh-CN" altLang="en-US" dirty="0"/>
              <a:t>和</a:t>
            </a:r>
            <a:r>
              <a:rPr kumimoji="1" lang="en-US" altLang="zh-CN" dirty="0"/>
              <a:t>z-i</a:t>
            </a:r>
            <a:r>
              <a:rPr kumimoji="1" lang="zh-CN" altLang="en-US" dirty="0"/>
              <a:t>的梯度</a:t>
            </a:r>
            <a:r>
              <a:rPr kumimoji="1" lang="en-US" altLang="zh-CN" dirty="0"/>
              <a:t>，</a:t>
            </a:r>
            <a:r>
              <a:rPr kumimoji="1" lang="zh-CN" altLang="en-US" dirty="0"/>
              <a:t>这个梯度参与的过程中会有自注意力层参数</a:t>
            </a:r>
            <a:r>
              <a:rPr kumimoji="1" lang="en-US" altLang="zh-CN" dirty="0"/>
              <a:t>W-i</a:t>
            </a:r>
            <a:r>
              <a:rPr kumimoji="1" lang="zh-CN" altLang="en-US" dirty="0"/>
              <a:t>和自注意力层的变化量</a:t>
            </a:r>
            <a:r>
              <a:rPr kumimoji="1" lang="en-US" altLang="zh-CN" dirty="0"/>
              <a:t>A</a:t>
            </a:r>
            <a:r>
              <a:rPr kumimoji="1" lang="zh-CN" altLang="en-US" dirty="0"/>
              <a:t>来参与</a:t>
            </a:r>
            <a:r>
              <a:rPr kumimoji="1" lang="en-US" altLang="zh-CN" dirty="0"/>
              <a:t>，</a:t>
            </a:r>
            <a:r>
              <a:rPr kumimoji="1" lang="zh-CN" altLang="en-US" dirty="0"/>
              <a:t>和我们一般所讲的梯度是不一样的</a:t>
            </a:r>
            <a:r>
              <a:rPr kumimoji="1" lang="en-US" altLang="zh-CN" dirty="0"/>
              <a:t>。</a:t>
            </a:r>
            <a:r>
              <a:rPr kumimoji="1" lang="zh-CN" altLang="en-US" dirty="0"/>
              <a:t>计算玩梯度之后</a:t>
            </a:r>
            <a:r>
              <a:rPr kumimoji="1" lang="en-US" altLang="zh-CN" dirty="0"/>
              <a:t>，</a:t>
            </a:r>
            <a:r>
              <a:rPr kumimoji="1" lang="zh-CN" altLang="en-US" dirty="0"/>
              <a:t>再按照超参数</a:t>
            </a:r>
            <a:r>
              <a:rPr kumimoji="1" lang="en-US" altLang="zh-CN" dirty="0"/>
              <a:t>beta</a:t>
            </a:r>
            <a:r>
              <a:rPr kumimoji="1" lang="zh-CN" altLang="en-US" dirty="0"/>
              <a:t>来更新</a:t>
            </a:r>
            <a:r>
              <a:rPr kumimoji="1" lang="en-US" altLang="zh-CN" dirty="0"/>
              <a:t>phi</a:t>
            </a:r>
            <a:r>
              <a:rPr kumimoji="1" lang="zh-CN" altLang="en-US" dirty="0"/>
              <a:t>和</a:t>
            </a:r>
            <a:r>
              <a:rPr kumimoji="1" lang="en-US" altLang="zh-CN" dirty="0"/>
              <a:t>z-i。</a:t>
            </a:r>
            <a:r>
              <a:rPr kumimoji="1" lang="zh-CN" altLang="en-US" dirty="0"/>
              <a:t>这就是整个</a:t>
            </a:r>
            <a:r>
              <a:rPr kumimoji="1" lang="en-US" altLang="zh-CN" dirty="0"/>
              <a:t>FedTP</a:t>
            </a:r>
            <a:r>
              <a:rPr kumimoji="1" lang="zh-CN" altLang="en-US" dirty="0"/>
              <a:t>的训练过程</a:t>
            </a:r>
            <a:r>
              <a:rPr kumimoji="1" lang="en-US" altLang="zh-CN" dirty="0"/>
              <a:t>。</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介绍完</a:t>
            </a:r>
            <a:r>
              <a:rPr kumimoji="1" lang="en-US" altLang="zh-CN" dirty="0"/>
              <a:t>FedTP</a:t>
            </a:r>
            <a:r>
              <a:rPr kumimoji="1" lang="zh-CN" altLang="en-US" dirty="0"/>
              <a:t>的逻辑</a:t>
            </a:r>
            <a:r>
              <a:rPr kumimoji="1" lang="en-US" altLang="zh-CN" dirty="0"/>
              <a:t>，</a:t>
            </a:r>
            <a:r>
              <a:rPr kumimoji="1" lang="zh-CN" altLang="en-US" dirty="0"/>
              <a:t>我们接下来介绍</a:t>
            </a:r>
            <a:r>
              <a:rPr kumimoji="1" lang="en-US" altLang="zh-CN" dirty="0"/>
              <a:t>generalization bound</a:t>
            </a:r>
            <a:r>
              <a:rPr kumimoji="1" lang="zh-CN" altLang="en-US" dirty="0"/>
              <a:t>的证明</a:t>
            </a:r>
            <a:r>
              <a:rPr kumimoji="1" lang="en-US" altLang="zh-CN" dirty="0"/>
              <a:t>。</a:t>
            </a:r>
            <a:r>
              <a:rPr kumimoji="1" lang="zh-CN" altLang="en-US" dirty="0"/>
              <a:t>首先</a:t>
            </a:r>
            <a:r>
              <a:rPr kumimoji="1" lang="en-US" altLang="zh-CN" dirty="0"/>
              <a:t>，</a:t>
            </a:r>
            <a:r>
              <a:rPr kumimoji="1" lang="zh-CN" altLang="en-US" dirty="0"/>
              <a:t>它的证明基于两个假设</a:t>
            </a:r>
            <a:r>
              <a:rPr kumimoji="1" lang="en-US" altLang="zh-CN" dirty="0"/>
              <a:t>。</a:t>
            </a:r>
            <a:r>
              <a:rPr kumimoji="1" lang="zh-CN" altLang="en-US" dirty="0"/>
              <a:t>第一个假设规定了超网络模型参数</a:t>
            </a:r>
            <a:r>
              <a:rPr kumimoji="1" lang="en-US" altLang="zh-CN" dirty="0"/>
              <a:t>phi，</a:t>
            </a:r>
            <a:r>
              <a:rPr kumimoji="1" lang="zh-CN" altLang="en-US" dirty="0"/>
              <a:t>输入参数</a:t>
            </a:r>
            <a:r>
              <a:rPr kumimoji="1" lang="en-US" altLang="zh-CN" dirty="0"/>
              <a:t>z-i，</a:t>
            </a:r>
            <a:r>
              <a:rPr kumimoji="1" lang="zh-CN" altLang="en-US" dirty="0"/>
              <a:t>除了注意力以外其他模型参数</a:t>
            </a:r>
            <a:r>
              <a:rPr kumimoji="1" lang="en-US" altLang="zh-CN" dirty="0"/>
              <a:t>zeta</a:t>
            </a:r>
            <a:r>
              <a:rPr kumimoji="1" lang="zh-CN" altLang="en-US" dirty="0"/>
              <a:t>的它们各自两两之间距离的上界</a:t>
            </a:r>
            <a:r>
              <a:rPr kumimoji="1" lang="en-US" altLang="zh-CN" dirty="0"/>
              <a:t>。</a:t>
            </a:r>
            <a:r>
              <a:rPr kumimoji="1" lang="zh-CN" altLang="en-US" dirty="0"/>
              <a:t>第二个假设规定了模型中所有参数变化率的上界</a:t>
            </a:r>
            <a:r>
              <a:rPr kumimoji="1" lang="en-US" altLang="zh-CN" dirty="0"/>
              <a:t>，</a:t>
            </a:r>
            <a:r>
              <a:rPr kumimoji="1" lang="zh-CN" altLang="en-US" dirty="0"/>
              <a:t>也就是说任何参数的变化量都会和它自变量的变化量成正比</a:t>
            </a:r>
            <a:r>
              <a:rPr kumimoji="1" lang="en-US" altLang="zh-CN" dirty="0"/>
              <a:t>，</a:t>
            </a:r>
            <a:r>
              <a:rPr kumimoji="1" lang="zh-CN" altLang="en-US" dirty="0"/>
              <a:t>比值有一个上界</a:t>
            </a:r>
            <a:r>
              <a:rPr kumimoji="1" lang="en-US" altLang="zh-CN" dirty="0"/>
              <a:t>。</a:t>
            </a:r>
            <a:r>
              <a:rPr kumimoji="1" lang="zh-CN" altLang="en-US" dirty="0"/>
              <a:t>它其实也规定了</a:t>
            </a:r>
            <a:r>
              <a:rPr kumimoji="1" lang="en-US" altLang="zh-CN" dirty="0"/>
              <a:t>，</a:t>
            </a:r>
            <a:r>
              <a:rPr kumimoji="1" lang="zh-CN" altLang="en-US" dirty="0"/>
              <a:t>在自变量的变化范围内</a:t>
            </a:r>
            <a:r>
              <a:rPr kumimoji="1" lang="en-US" altLang="zh-CN" dirty="0"/>
              <a:t>，</a:t>
            </a:r>
            <a:r>
              <a:rPr kumimoji="1" lang="zh-CN" altLang="en-US" dirty="0"/>
              <a:t>模型参数的变化量有一个上界</a:t>
            </a:r>
            <a:r>
              <a:rPr kumimoji="1" lang="en-US" altLang="zh-CN" dirty="0"/>
              <a:t>。</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本文没有具体给出来证明过程</a:t>
            </a:r>
            <a:r>
              <a:rPr kumimoji="1" lang="en-US" altLang="zh-CN" dirty="0"/>
              <a:t>，</a:t>
            </a:r>
            <a:r>
              <a:rPr kumimoji="1" lang="zh-CN" altLang="en-US" dirty="0"/>
              <a:t>不过它使用的也是概率论中通用的方法</a:t>
            </a:r>
            <a:r>
              <a:rPr kumimoji="1" lang="en-US" altLang="zh-CN" dirty="0"/>
              <a:t>。</a:t>
            </a:r>
            <a:r>
              <a:rPr kumimoji="1" lang="zh-CN" altLang="en-US" dirty="0"/>
              <a:t>它</a:t>
            </a:r>
            <a:r>
              <a:rPr kumimoji="1" lang="en-US" altLang="zh-CN" dirty="0"/>
              <a:t>bound</a:t>
            </a:r>
            <a:r>
              <a:rPr kumimoji="1" lang="zh-CN" altLang="en-US" dirty="0"/>
              <a:t>的表示方法使用当前损失函数的平均值与最优模型损失函数的差值的绝对值来表示</a:t>
            </a:r>
            <a:r>
              <a:rPr kumimoji="1" lang="en-US" altLang="zh-CN" dirty="0"/>
              <a:t>，</a:t>
            </a:r>
            <a:r>
              <a:rPr kumimoji="1" lang="zh-CN" altLang="en-US" dirty="0"/>
              <a:t>它证明出来整个的</a:t>
            </a:r>
            <a:r>
              <a:rPr kumimoji="1" lang="en-US" altLang="zh-CN" dirty="0"/>
              <a:t>bound</a:t>
            </a:r>
            <a:r>
              <a:rPr kumimoji="1" lang="zh-CN" altLang="en-US" dirty="0"/>
              <a:t>会根据数据量</a:t>
            </a:r>
            <a:r>
              <a:rPr kumimoji="1" lang="en-US" altLang="zh-CN" dirty="0"/>
              <a:t>M，</a:t>
            </a:r>
            <a:r>
              <a:rPr kumimoji="1" lang="zh-CN" altLang="en-US" dirty="0"/>
              <a:t>用户数</a:t>
            </a:r>
            <a:r>
              <a:rPr kumimoji="1" lang="en-US" altLang="zh-CN" dirty="0"/>
              <a:t>N</a:t>
            </a:r>
            <a:r>
              <a:rPr kumimoji="1" lang="zh-CN" altLang="en-US" dirty="0"/>
              <a:t>的变化而变化</a:t>
            </a:r>
            <a:r>
              <a:rPr kumimoji="1" lang="en-US" altLang="zh-CN" dirty="0"/>
              <a:t>。</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接下来是实验</a:t>
            </a:r>
            <a:r>
              <a:rPr kumimoji="1" lang="en-US" altLang="zh-CN" dirty="0"/>
              <a:t>。</a:t>
            </a:r>
            <a:r>
              <a:rPr kumimoji="1" lang="zh-CN" altLang="en-US" dirty="0"/>
              <a:t>首先是实验的设定</a:t>
            </a:r>
            <a:r>
              <a:rPr kumimoji="1" lang="en-US" altLang="zh-CN" dirty="0"/>
              <a:t>，</a:t>
            </a:r>
            <a:r>
              <a:rPr kumimoji="1" lang="zh-CN" altLang="en-US" dirty="0"/>
              <a:t>有图片分类和自然语言处理</a:t>
            </a:r>
            <a:r>
              <a:rPr kumimoji="1" lang="en-US" altLang="zh-CN" dirty="0"/>
              <a:t>。</a:t>
            </a:r>
            <a:r>
              <a:rPr kumimoji="1" lang="zh-CN" altLang="en-US" dirty="0"/>
              <a:t>图片分类使用的模型是</a:t>
            </a:r>
            <a:r>
              <a:rPr kumimoji="1" lang="en-US" altLang="zh-CN" dirty="0"/>
              <a:t>ViT，</a:t>
            </a:r>
            <a:r>
              <a:rPr kumimoji="1" lang="zh-CN" altLang="en-US" dirty="0"/>
              <a:t>对照模型是</a:t>
            </a:r>
            <a:r>
              <a:rPr kumimoji="1" lang="en-US" altLang="zh-CN" dirty="0"/>
              <a:t>ConvNet，</a:t>
            </a:r>
            <a:r>
              <a:rPr kumimoji="1" lang="zh-CN" altLang="en-US" dirty="0"/>
              <a:t>自然语言处理使用</a:t>
            </a:r>
            <a:r>
              <a:rPr kumimoji="1" lang="en-US" altLang="zh-CN" dirty="0"/>
              <a:t>transformer，</a:t>
            </a:r>
            <a:r>
              <a:rPr kumimoji="1" lang="zh-CN" altLang="en-US" dirty="0"/>
              <a:t>对照模型是</a:t>
            </a:r>
            <a:r>
              <a:rPr kumimoji="1" lang="en-US" altLang="zh-CN" dirty="0"/>
              <a:t>LSTM。</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首先第一个实验是展示</a:t>
            </a:r>
            <a:r>
              <a:rPr kumimoji="1" lang="en-US" altLang="zh-CN" dirty="0"/>
              <a:t>FedTP</a:t>
            </a:r>
            <a:r>
              <a:rPr kumimoji="1" lang="zh-CN" altLang="en-US" dirty="0"/>
              <a:t>对于各种基于</a:t>
            </a:r>
            <a:r>
              <a:rPr kumimoji="1" lang="en-US" altLang="zh-CN" dirty="0"/>
              <a:t>transformer</a:t>
            </a:r>
            <a:r>
              <a:rPr kumimoji="1" lang="zh-CN" altLang="en-US" dirty="0"/>
              <a:t>的联邦学习框架上的准确率对比</a:t>
            </a:r>
            <a:r>
              <a:rPr kumimoji="1" lang="en-US" altLang="zh-CN" dirty="0"/>
              <a:t>。</a:t>
            </a:r>
            <a:r>
              <a:rPr kumimoji="1" lang="zh-CN" altLang="en-US" dirty="0"/>
              <a:t>它的</a:t>
            </a:r>
            <a:r>
              <a:rPr kumimoji="1" lang="en-US" altLang="zh-CN" dirty="0"/>
              <a:t>noniid</a:t>
            </a:r>
            <a:r>
              <a:rPr kumimoji="1" lang="zh-CN" altLang="en-US" dirty="0"/>
              <a:t>设置分为两类</a:t>
            </a:r>
            <a:r>
              <a:rPr kumimoji="1" lang="en-US" altLang="zh-CN" dirty="0"/>
              <a:t>，</a:t>
            </a:r>
            <a:r>
              <a:rPr kumimoji="1" lang="zh-CN" altLang="en-US" dirty="0"/>
              <a:t>一个是这个病态</a:t>
            </a:r>
            <a:r>
              <a:rPr kumimoji="1" lang="en-US" altLang="zh-CN" dirty="0"/>
              <a:t>noniid</a:t>
            </a:r>
            <a:r>
              <a:rPr kumimoji="1" lang="zh-CN" altLang="en-US" dirty="0"/>
              <a:t>分布</a:t>
            </a:r>
            <a:r>
              <a:rPr kumimoji="1" lang="en-US" altLang="zh-CN" dirty="0"/>
              <a:t>，</a:t>
            </a:r>
            <a:r>
              <a:rPr kumimoji="1" lang="zh-CN" altLang="en-US" dirty="0"/>
              <a:t>就是每个用户只挑一部分</a:t>
            </a:r>
            <a:r>
              <a:rPr kumimoji="1" lang="en-US" altLang="zh-CN" dirty="0"/>
              <a:t>class</a:t>
            </a:r>
            <a:r>
              <a:rPr kumimoji="1" lang="zh-CN" altLang="en-US" dirty="0"/>
              <a:t>作为自己的数据</a:t>
            </a:r>
            <a:r>
              <a:rPr kumimoji="1" lang="en-US" altLang="zh-CN" dirty="0"/>
              <a:t>，cifar10</a:t>
            </a:r>
            <a:r>
              <a:rPr kumimoji="1" lang="zh-CN" altLang="en-US" dirty="0"/>
              <a:t>里面挑</a:t>
            </a:r>
            <a:r>
              <a:rPr kumimoji="1" lang="en-US" altLang="zh-CN" dirty="0"/>
              <a:t>2</a:t>
            </a:r>
            <a:r>
              <a:rPr kumimoji="1" lang="zh-CN" altLang="en-US" dirty="0"/>
              <a:t>个</a:t>
            </a:r>
            <a:r>
              <a:rPr kumimoji="1" lang="en-US" altLang="zh-CN" dirty="0"/>
              <a:t>，ciafr100</a:t>
            </a:r>
            <a:r>
              <a:rPr kumimoji="1" lang="zh-CN" altLang="en-US" dirty="0"/>
              <a:t>里面挑</a:t>
            </a:r>
            <a:r>
              <a:rPr kumimoji="1" lang="en-US" altLang="zh-CN" dirty="0"/>
              <a:t>10</a:t>
            </a:r>
            <a:r>
              <a:rPr kumimoji="1" lang="zh-CN" altLang="en-US" dirty="0"/>
              <a:t>个</a:t>
            </a:r>
            <a:r>
              <a:rPr kumimoji="1" lang="en-US" altLang="zh-CN" dirty="0"/>
              <a:t>。</a:t>
            </a:r>
            <a:r>
              <a:rPr kumimoji="1" lang="zh-CN" altLang="en-US" dirty="0"/>
              <a:t>狄利克雷分布是我们最常用的</a:t>
            </a:r>
            <a:r>
              <a:rPr kumimoji="1" lang="en-US" altLang="zh-CN" dirty="0"/>
              <a:t>noniid</a:t>
            </a:r>
            <a:r>
              <a:rPr kumimoji="1" lang="zh-CN" altLang="en-US" dirty="0"/>
              <a:t>设置</a:t>
            </a:r>
            <a:r>
              <a:rPr kumimoji="1" lang="en-US" altLang="zh-CN" dirty="0"/>
              <a:t>，</a:t>
            </a:r>
            <a:r>
              <a:rPr kumimoji="1" lang="zh-CN" altLang="en-US" dirty="0"/>
              <a:t>它这里面对超参数</a:t>
            </a:r>
            <a:r>
              <a:rPr kumimoji="1" lang="en-US" altLang="zh-CN" dirty="0"/>
              <a:t>alpha</a:t>
            </a:r>
            <a:r>
              <a:rPr kumimoji="1" lang="zh-CN" altLang="en-US" dirty="0"/>
              <a:t>的设定是</a:t>
            </a:r>
            <a:r>
              <a:rPr kumimoji="1" lang="en-US" altLang="zh-CN" dirty="0"/>
              <a:t>0.3，</a:t>
            </a:r>
            <a:r>
              <a:rPr kumimoji="1" lang="zh-CN" altLang="en-US" dirty="0"/>
              <a:t>基本上也是一个比较极端的</a:t>
            </a:r>
            <a:r>
              <a:rPr kumimoji="1" lang="en-US" altLang="zh-CN" dirty="0"/>
              <a:t>noniid。</a:t>
            </a:r>
            <a:r>
              <a:rPr kumimoji="1" lang="zh-CN" altLang="en-US" dirty="0"/>
              <a:t>最后实验结果</a:t>
            </a:r>
            <a:r>
              <a:rPr kumimoji="1" lang="en-US" altLang="zh-CN" dirty="0"/>
              <a:t>，</a:t>
            </a:r>
            <a:r>
              <a:rPr kumimoji="1" lang="zh-CN" altLang="en-US" dirty="0"/>
              <a:t>大部分情况下</a:t>
            </a:r>
            <a:r>
              <a:rPr kumimoji="1" lang="en-US" altLang="zh-CN" dirty="0"/>
              <a:t>FedTP</a:t>
            </a:r>
            <a:r>
              <a:rPr kumimoji="1" lang="zh-CN" altLang="en-US" dirty="0"/>
              <a:t>的效果是最好的</a:t>
            </a:r>
            <a:r>
              <a:rPr kumimoji="1" lang="en-US" altLang="zh-CN" dirty="0"/>
              <a:t>。</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这里面是</a:t>
            </a:r>
            <a:r>
              <a:rPr kumimoji="1" lang="en-US" altLang="zh-CN" dirty="0"/>
              <a:t>FedTP</a:t>
            </a:r>
            <a:r>
              <a:rPr kumimoji="1" lang="zh-CN" altLang="en-US" dirty="0"/>
              <a:t>和对照模型</a:t>
            </a:r>
            <a:r>
              <a:rPr kumimoji="1" lang="en-US" altLang="zh-CN" dirty="0"/>
              <a:t>CNN、LSTM</a:t>
            </a:r>
            <a:r>
              <a:rPr kumimoji="1" lang="zh-CN" altLang="en-US" dirty="0"/>
              <a:t>之间的一个比较</a:t>
            </a:r>
            <a:r>
              <a:rPr kumimoji="1" lang="en-US" altLang="zh-CN" dirty="0"/>
              <a:t>。</a:t>
            </a:r>
            <a:r>
              <a:rPr kumimoji="1" lang="zh-CN" altLang="en-US" dirty="0"/>
              <a:t>这里面的联邦学习框架都没有使用</a:t>
            </a:r>
            <a:r>
              <a:rPr kumimoji="1" lang="en-US" altLang="zh-CN" dirty="0"/>
              <a:t>transfomer。noniid</a:t>
            </a:r>
            <a:r>
              <a:rPr kumimoji="1" lang="zh-CN" altLang="en-US" dirty="0"/>
              <a:t>的设定仍然和刚才一样</a:t>
            </a:r>
            <a:r>
              <a:rPr kumimoji="1" lang="en-US" altLang="zh-CN" dirty="0"/>
              <a:t>。</a:t>
            </a:r>
            <a:r>
              <a:rPr kumimoji="1" lang="zh-CN" altLang="en-US" dirty="0"/>
              <a:t>最后的结果仍然是</a:t>
            </a:r>
            <a:r>
              <a:rPr kumimoji="1" lang="en-US" altLang="zh-CN" dirty="0"/>
              <a:t>，</a:t>
            </a:r>
            <a:r>
              <a:rPr kumimoji="1" lang="zh-CN" altLang="en-US" dirty="0"/>
              <a:t>在绝大部分情况下</a:t>
            </a:r>
            <a:r>
              <a:rPr kumimoji="1" lang="en-US" altLang="zh-CN" dirty="0"/>
              <a:t>FedTP</a:t>
            </a:r>
            <a:r>
              <a:rPr kumimoji="1" lang="zh-CN" altLang="en-US" dirty="0"/>
              <a:t>的效果是最好的</a:t>
            </a:r>
            <a:r>
              <a:rPr kumimoji="1" lang="en-US" altLang="zh-CN" dirty="0"/>
              <a:t>。</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这个是使用</a:t>
            </a:r>
            <a:r>
              <a:rPr kumimoji="1" lang="en-US" altLang="zh-CN" dirty="0"/>
              <a:t>attention map</a:t>
            </a:r>
            <a:r>
              <a:rPr kumimoji="1" lang="zh-CN" altLang="en-US" dirty="0"/>
              <a:t>可视化展示不同框架的自注意力层的效果</a:t>
            </a:r>
            <a:r>
              <a:rPr kumimoji="1" lang="en-US" altLang="zh-CN" dirty="0"/>
              <a:t>，</a:t>
            </a:r>
            <a:r>
              <a:rPr kumimoji="1" lang="zh-CN" altLang="en-US" dirty="0"/>
              <a:t>这里面的结果也是</a:t>
            </a:r>
            <a:r>
              <a:rPr kumimoji="1" lang="en-US" altLang="zh-CN" dirty="0"/>
              <a:t>FedTP</a:t>
            </a:r>
            <a:r>
              <a:rPr kumimoji="1" lang="zh-CN" altLang="en-US" dirty="0"/>
              <a:t>的</a:t>
            </a:r>
            <a:r>
              <a:rPr kumimoji="1" lang="en-US" altLang="zh-CN" dirty="0"/>
              <a:t>attention map</a:t>
            </a:r>
            <a:r>
              <a:rPr kumimoji="1" lang="zh-CN" altLang="en-US" dirty="0"/>
              <a:t>是最清晰的</a:t>
            </a:r>
            <a:r>
              <a:rPr kumimoji="1" lang="en-US" altLang="zh-CN" dirty="0"/>
              <a:t>，</a:t>
            </a:r>
            <a:r>
              <a:rPr kumimoji="1" lang="zh-CN" altLang="en-US" dirty="0"/>
              <a:t>效果是最好的</a:t>
            </a:r>
            <a:r>
              <a:rPr kumimoji="1" lang="en-US" altLang="zh-CN" dirty="0"/>
              <a:t>。</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r>
              <a:rPr kumimoji="1" lang="zh-CN" altLang="en-US" dirty="0"/>
              <a:t>这个实验其实类似于泛化性证明的相关实验</a:t>
            </a:r>
            <a:r>
              <a:rPr kumimoji="1" lang="en-US" altLang="zh-CN" dirty="0"/>
              <a:t>，</a:t>
            </a:r>
            <a:r>
              <a:rPr kumimoji="1" lang="zh-CN" altLang="en-US" dirty="0"/>
              <a:t>就是当有新的用户加进来以后</a:t>
            </a:r>
            <a:r>
              <a:rPr kumimoji="1" lang="en-US" altLang="zh-CN" dirty="0"/>
              <a:t>，</a:t>
            </a:r>
            <a:r>
              <a:rPr kumimoji="1" lang="zh-CN" altLang="en-US" dirty="0"/>
              <a:t>经过微调新用户的个性化模型的准确率变化图。从图中可以看出来</a:t>
            </a:r>
            <a:r>
              <a:rPr kumimoji="1" lang="en-US" altLang="zh-CN" dirty="0"/>
              <a:t>FedTP</a:t>
            </a:r>
            <a:r>
              <a:rPr kumimoji="1" lang="zh-CN" altLang="en-US" dirty="0"/>
              <a:t>对新用户的适应性是最强的</a:t>
            </a:r>
            <a:r>
              <a:rPr kumimoji="1" lang="en-US" altLang="zh-CN" dirty="0"/>
              <a:t>，</a:t>
            </a:r>
            <a:r>
              <a:rPr kumimoji="1" lang="zh-CN" altLang="en-US" dirty="0"/>
              <a:t>它需要微调的轮数最少</a:t>
            </a:r>
            <a:r>
              <a:rPr kumimoji="1" lang="en-US" altLang="zh-CN" dirty="0"/>
              <a:t>，</a:t>
            </a:r>
            <a:r>
              <a:rPr kumimoji="1" lang="zh-CN" altLang="en-US" dirty="0"/>
              <a:t>准确率也最高</a:t>
            </a:r>
            <a:r>
              <a:rPr kumimoji="1" lang="en-US" altLang="zh-CN" dirty="0"/>
              <a:t>。</a:t>
            </a:r>
          </a:p>
        </p:txBody>
      </p:sp>
      <p:sp>
        <p:nvSpPr>
          <p:cNvPr id="4" name="灯片编号占位符 3"/>
          <p:cNvSpPr>
            <a:spLocks noGrp="1"/>
          </p:cNvSpPr>
          <p:nvPr>
            <p:ph type="sldNum" sz="quarter" idx="5"/>
          </p:nvPr>
        </p:nvSpPr>
        <p:spPr/>
        <p:txBody>
          <a:bodyPr/>
          <a:lstStyle/>
          <a:p>
            <a:fld id="{85D0DACE-38E0-42D2-9336-2B707D34BC6D}"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6925" cy="3454400"/>
          </a:xfrm>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23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143000" y="1322962"/>
            <a:ext cx="6858000" cy="2187001"/>
          </a:xfrm>
        </p:spPr>
        <p:txBody>
          <a:bodyPr anchor="b">
            <a:normAutofit/>
          </a:bodyPr>
          <a:lstStyle>
            <a:lvl1pPr algn="ctr">
              <a:lnSpc>
                <a:spcPct val="130000"/>
              </a:lnSpc>
              <a:defRPr sz="6000">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r>
              <a:rPr lang="zh-CN" altLang="en-US"/>
              <a:t>Ming Tang @ SUSTech</a:t>
            </a:r>
          </a:p>
        </p:txBody>
      </p:sp>
      <p:sp>
        <p:nvSpPr>
          <p:cNvPr id="5" name="页脚占位符 4"/>
          <p:cNvSpPr>
            <a:spLocks noGrp="1"/>
          </p:cNvSpPr>
          <p:nvPr>
            <p:ph type="ftr" sz="quarter" idx="11"/>
          </p:nvPr>
        </p:nvSpPr>
        <p:spPr/>
        <p:txBody>
          <a:bodyPr/>
          <a:lstStyle/>
          <a:p>
            <a:r>
              <a:rPr lang="zh-CN" altLang="en-US"/>
              <a:t>GLOBECOM 2023</a:t>
            </a:r>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1143000" y="3602038"/>
            <a:ext cx="6858000" cy="1655762"/>
          </a:xfrm>
        </p:spPr>
        <p:txBody>
          <a:bodyPr>
            <a:normAutofit/>
          </a:bodyPr>
          <a:lstStyle>
            <a:lvl1pPr marL="0" indent="0" algn="ctr">
              <a:buNone/>
              <a:defRPr sz="2400">
                <a:solidFill>
                  <a:schemeClr val="tx1">
                    <a:lumMod val="65000"/>
                    <a:lumOff val="3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85775" y="258445"/>
            <a:ext cx="7886700" cy="1325563"/>
          </a:xfrm>
        </p:spPr>
        <p:txBody>
          <a:bodyPr anchor="ctr" anchorCtr="0">
            <a:normAutofit/>
          </a:bodyPr>
          <a:lstStyle>
            <a:lvl1pPr>
              <a:defRPr sz="4400" b="0">
                <a:effectLst/>
              </a:defRPr>
            </a:lvl1pPr>
          </a:lstStyle>
          <a:p>
            <a:r>
              <a:rPr lang="zh-CN" altLang="en-US" dirty="0"/>
              <a:t>单击此处编辑母版标题样式</a:t>
            </a:r>
          </a:p>
        </p:txBody>
      </p:sp>
      <p:sp>
        <p:nvSpPr>
          <p:cNvPr id="3" name="内容占位符 2"/>
          <p:cNvSpPr>
            <a:spLocks noGrp="1"/>
          </p:cNvSpPr>
          <p:nvPr>
            <p:ph idx="1"/>
          </p:nvPr>
        </p:nvSpPr>
        <p:spPr>
          <a:xfrm>
            <a:off x="485775" y="1825625"/>
            <a:ext cx="78867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r>
              <a:rPr lang="zh-CN" altLang="en-US"/>
              <a:t>Ming Tang @ SUSTech</a:t>
            </a:r>
          </a:p>
        </p:txBody>
      </p:sp>
      <p:sp>
        <p:nvSpPr>
          <p:cNvPr id="5" name="页脚占位符 4"/>
          <p:cNvSpPr>
            <a:spLocks noGrp="1"/>
          </p:cNvSpPr>
          <p:nvPr>
            <p:ph type="ftr" sz="quarter" idx="11"/>
          </p:nvPr>
        </p:nvSpPr>
        <p:spPr/>
        <p:txBody>
          <a:bodyPr/>
          <a:lstStyle/>
          <a:p>
            <a:r>
              <a:rPr lang="zh-CN" altLang="en-US"/>
              <a:t>GLOBECOM 2023</a:t>
            </a:r>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7" y="469127"/>
            <a:ext cx="7730945" cy="4093347"/>
          </a:xfrm>
        </p:spPr>
        <p:txBody>
          <a:bodyPr anchor="b">
            <a:normAutofit/>
          </a:bodyPr>
          <a:lstStyle>
            <a:lvl1pPr>
              <a:defRPr sz="6000">
                <a:effectLst/>
              </a:defRPr>
            </a:lvl1pPr>
          </a:lstStyle>
          <a:p>
            <a:r>
              <a:rPr lang="zh-CN" altLang="en-US" dirty="0"/>
              <a:t>单击此处编辑母版标题样式</a:t>
            </a:r>
          </a:p>
        </p:txBody>
      </p:sp>
      <p:sp>
        <p:nvSpPr>
          <p:cNvPr id="3" name="文本占位符 2"/>
          <p:cNvSpPr>
            <a:spLocks noGrp="1"/>
          </p:cNvSpPr>
          <p:nvPr>
            <p:ph type="body" idx="1"/>
          </p:nvPr>
        </p:nvSpPr>
        <p:spPr>
          <a:xfrm>
            <a:off x="623888" y="4610028"/>
            <a:ext cx="7730945" cy="647555"/>
          </a:xfrm>
        </p:spPr>
        <p:txBody>
          <a:bodyPr>
            <a:normAutofit/>
          </a:bodyPr>
          <a:lstStyle>
            <a:lvl1pPr marL="0" indent="0">
              <a:buNone/>
              <a:defRPr sz="2400">
                <a:solidFill>
                  <a:schemeClr val="tx1">
                    <a:lumMod val="65000"/>
                    <a:lumOff val="3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r>
              <a:rPr lang="zh-CN" altLang="en-US"/>
              <a:t>Ming Tang @ SUSTech</a:t>
            </a:r>
          </a:p>
        </p:txBody>
      </p:sp>
      <p:sp>
        <p:nvSpPr>
          <p:cNvPr id="5" name="页脚占位符 4"/>
          <p:cNvSpPr>
            <a:spLocks noGrp="1"/>
          </p:cNvSpPr>
          <p:nvPr>
            <p:ph type="ftr" sz="quarter" idx="11"/>
          </p:nvPr>
        </p:nvSpPr>
        <p:spPr/>
        <p:txBody>
          <a:bodyPr/>
          <a:lstStyle/>
          <a:p>
            <a:r>
              <a:rPr lang="zh-CN" altLang="en-US"/>
              <a:t>GLOBECOM 2023</a:t>
            </a:r>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85775" y="258445"/>
            <a:ext cx="7886700" cy="1325563"/>
          </a:xfrm>
        </p:spPr>
        <p:txBody>
          <a:bodyPr>
            <a:normAutofit/>
          </a:bodyPr>
          <a:lstStyle>
            <a:lvl1pPr>
              <a:defRPr sz="4400" b="0" i="0">
                <a:solidFill>
                  <a:schemeClr val="tx1">
                    <a:lumMod val="85000"/>
                    <a:lumOff val="15000"/>
                  </a:schemeClr>
                </a:solidFill>
                <a:effectLst/>
              </a:defRPr>
            </a:lvl1pPr>
          </a:lstStyle>
          <a:p>
            <a:r>
              <a:rPr lang="zh-CN" altLang="en-US" dirty="0"/>
              <a:t>单击此处编辑母版标题样式</a:t>
            </a:r>
          </a:p>
        </p:txBody>
      </p:sp>
      <p:sp>
        <p:nvSpPr>
          <p:cNvPr id="3" name="内容占位符 2"/>
          <p:cNvSpPr>
            <a:spLocks noGrp="1"/>
          </p:cNvSpPr>
          <p:nvPr>
            <p:ph sz="half" idx="1"/>
          </p:nvPr>
        </p:nvSpPr>
        <p:spPr>
          <a:xfrm>
            <a:off x="485775" y="1825625"/>
            <a:ext cx="3886200" cy="4351338"/>
          </a:xfrm>
        </p:spPr>
        <p:txBody>
          <a:bodyPr>
            <a:normAutofit/>
          </a:bodyPr>
          <a:lstStyle>
            <a:lvl1pPr>
              <a:lnSpc>
                <a:spcPct val="90000"/>
              </a:lnSpc>
              <a:defRPr sz="2800">
                <a:solidFill>
                  <a:schemeClr val="tx1">
                    <a:lumMod val="65000"/>
                    <a:lumOff val="35000"/>
                  </a:schemeClr>
                </a:solidFill>
              </a:defRPr>
            </a:lvl1pPr>
            <a:lvl2pPr>
              <a:lnSpc>
                <a:spcPct val="90000"/>
              </a:lnSpc>
              <a:defRPr sz="2400">
                <a:solidFill>
                  <a:schemeClr val="tx1">
                    <a:lumMod val="65000"/>
                    <a:lumOff val="35000"/>
                  </a:schemeClr>
                </a:solidFill>
              </a:defRPr>
            </a:lvl2pPr>
            <a:lvl3pPr>
              <a:lnSpc>
                <a:spcPct val="90000"/>
              </a:lnSpc>
              <a:defRPr sz="2000">
                <a:solidFill>
                  <a:schemeClr val="tx1">
                    <a:lumMod val="65000"/>
                    <a:lumOff val="35000"/>
                  </a:schemeClr>
                </a:solidFill>
              </a:defRPr>
            </a:lvl3pPr>
            <a:lvl4pPr>
              <a:lnSpc>
                <a:spcPct val="90000"/>
              </a:lnSpc>
              <a:defRPr sz="1800">
                <a:solidFill>
                  <a:schemeClr val="tx1">
                    <a:lumMod val="65000"/>
                    <a:lumOff val="35000"/>
                  </a:schemeClr>
                </a:solidFill>
              </a:defRPr>
            </a:lvl4pPr>
            <a:lvl5pPr>
              <a:lnSpc>
                <a:spcPct val="90000"/>
              </a:lnSpc>
              <a:defRPr sz="18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486275" y="1825625"/>
            <a:ext cx="3886200" cy="4351338"/>
          </a:xfrm>
        </p:spPr>
        <p:txBody>
          <a:bodyPr>
            <a:normAutofit/>
          </a:bodyPr>
          <a:lstStyle>
            <a:lvl1pPr>
              <a:lnSpc>
                <a:spcPct val="90000"/>
              </a:lnSpc>
              <a:defRPr sz="2800">
                <a:solidFill>
                  <a:schemeClr val="tx1">
                    <a:lumMod val="65000"/>
                    <a:lumOff val="35000"/>
                  </a:schemeClr>
                </a:solidFill>
              </a:defRPr>
            </a:lvl1pPr>
            <a:lvl2pPr>
              <a:lnSpc>
                <a:spcPct val="90000"/>
              </a:lnSpc>
              <a:defRPr sz="2400">
                <a:solidFill>
                  <a:schemeClr val="tx1">
                    <a:lumMod val="65000"/>
                    <a:lumOff val="35000"/>
                  </a:schemeClr>
                </a:solidFill>
              </a:defRPr>
            </a:lvl2pPr>
            <a:lvl3pPr>
              <a:lnSpc>
                <a:spcPct val="90000"/>
              </a:lnSpc>
              <a:defRPr sz="2000">
                <a:solidFill>
                  <a:schemeClr val="tx1">
                    <a:lumMod val="65000"/>
                    <a:lumOff val="35000"/>
                  </a:schemeClr>
                </a:solidFill>
              </a:defRPr>
            </a:lvl3pPr>
            <a:lvl4pPr>
              <a:lnSpc>
                <a:spcPct val="90000"/>
              </a:lnSpc>
              <a:defRPr sz="1800">
                <a:solidFill>
                  <a:schemeClr val="tx1">
                    <a:lumMod val="65000"/>
                    <a:lumOff val="35000"/>
                  </a:schemeClr>
                </a:solidFill>
              </a:defRPr>
            </a:lvl4pPr>
            <a:lvl5pPr>
              <a:lnSpc>
                <a:spcPct val="90000"/>
              </a:lnSpc>
              <a:defRPr sz="18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r>
              <a:rPr lang="zh-CN" altLang="en-US"/>
              <a:t>Ming Tang @ SUSTech</a:t>
            </a:r>
          </a:p>
        </p:txBody>
      </p:sp>
      <p:sp>
        <p:nvSpPr>
          <p:cNvPr id="6" name="页脚占位符 5"/>
          <p:cNvSpPr>
            <a:spLocks noGrp="1"/>
          </p:cNvSpPr>
          <p:nvPr>
            <p:ph type="ftr" sz="quarter" idx="11"/>
          </p:nvPr>
        </p:nvSpPr>
        <p:spPr/>
        <p:txBody>
          <a:bodyPr/>
          <a:lstStyle/>
          <a:p>
            <a:r>
              <a:rPr lang="zh-CN" altLang="en-US"/>
              <a:t>GLOBECOM 2023</a:t>
            </a:r>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dirty="0"/>
              <a:t>单击此处编辑母版标题样式</a:t>
            </a:r>
          </a:p>
        </p:txBody>
      </p:sp>
      <p:sp>
        <p:nvSpPr>
          <p:cNvPr id="3" name="文本占位符 2"/>
          <p:cNvSpPr>
            <a:spLocks noGrp="1"/>
          </p:cNvSpPr>
          <p:nvPr>
            <p:ph type="body" idx="1"/>
          </p:nvPr>
        </p:nvSpPr>
        <p:spPr>
          <a:xfrm>
            <a:off x="629841" y="1744961"/>
            <a:ext cx="3868340"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629841" y="2615609"/>
            <a:ext cx="3868340"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29150" y="1744961"/>
            <a:ext cx="3887391"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29150" y="2615609"/>
            <a:ext cx="3887391"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r>
              <a:rPr lang="zh-CN" altLang="en-US"/>
              <a:t>Ming Tang @ SUSTech</a:t>
            </a:r>
          </a:p>
        </p:txBody>
      </p:sp>
      <p:sp>
        <p:nvSpPr>
          <p:cNvPr id="8" name="页脚占位符 7"/>
          <p:cNvSpPr>
            <a:spLocks noGrp="1"/>
          </p:cNvSpPr>
          <p:nvPr>
            <p:ph type="ftr" sz="quarter" idx="11"/>
          </p:nvPr>
        </p:nvSpPr>
        <p:spPr/>
        <p:txBody>
          <a:bodyPr/>
          <a:lstStyle/>
          <a:p>
            <a:r>
              <a:rPr lang="zh-CN" altLang="en-US"/>
              <a:t>GLOBECOM 2023</a:t>
            </a:r>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2766219"/>
            <a:ext cx="7886700" cy="1325563"/>
          </a:xfrm>
        </p:spPr>
        <p:txBody>
          <a:bodyPr>
            <a:normAutofit/>
          </a:bodyPr>
          <a:lstStyle>
            <a:lvl1pPr algn="ctr">
              <a:defRPr sz="4400" b="0">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r>
              <a:rPr lang="zh-CN" altLang="en-US"/>
              <a:t>Ming Tang @ SUSTech</a:t>
            </a:r>
          </a:p>
        </p:txBody>
      </p:sp>
      <p:sp>
        <p:nvSpPr>
          <p:cNvPr id="4" name="页脚占位符 3"/>
          <p:cNvSpPr>
            <a:spLocks noGrp="1"/>
          </p:cNvSpPr>
          <p:nvPr>
            <p:ph type="ftr" sz="quarter" idx="11"/>
          </p:nvPr>
        </p:nvSpPr>
        <p:spPr/>
        <p:txBody>
          <a:bodyPr/>
          <a:lstStyle/>
          <a:p>
            <a:r>
              <a:rPr lang="zh-CN" altLang="en-US"/>
              <a:t>GLOBECOM 2023</a:t>
            </a:r>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r>
              <a:rPr lang="zh-CN" altLang="en-US"/>
              <a:t>Ming Tang @ SUSTech</a:t>
            </a:r>
          </a:p>
        </p:txBody>
      </p:sp>
      <p:sp>
        <p:nvSpPr>
          <p:cNvPr id="3" name="页脚占位符 2"/>
          <p:cNvSpPr>
            <a:spLocks noGrp="1"/>
          </p:cNvSpPr>
          <p:nvPr>
            <p:ph type="ftr" sz="quarter" idx="11"/>
          </p:nvPr>
        </p:nvSpPr>
        <p:spPr/>
        <p:txBody>
          <a:bodyPr/>
          <a:lstStyle/>
          <a:p>
            <a:r>
              <a:rPr lang="zh-CN" altLang="en-US"/>
              <a:t>GLOBECOM 2023</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85060" y="127000"/>
            <a:ext cx="3123900" cy="1600200"/>
          </a:xfrm>
        </p:spPr>
        <p:txBody>
          <a:bodyPr anchor="ctr" anchorCtr="0">
            <a:normAutofit/>
          </a:bodyPr>
          <a:lstStyle>
            <a:lvl1pPr>
              <a:defRPr sz="3200" b="0">
                <a:effectLst/>
              </a:defRPr>
            </a:lvl1pPr>
          </a:lstStyle>
          <a:p>
            <a:r>
              <a:rPr lang="zh-CN" altLang="en-US" dirty="0"/>
              <a:t>单击此处编辑标题</a:t>
            </a:r>
          </a:p>
        </p:txBody>
      </p:sp>
      <p:sp>
        <p:nvSpPr>
          <p:cNvPr id="3" name="图片占位符 2"/>
          <p:cNvSpPr>
            <a:spLocks noGrp="1"/>
          </p:cNvSpPr>
          <p:nvPr>
            <p:ph type="pic" idx="1"/>
          </p:nvPr>
        </p:nvSpPr>
        <p:spPr>
          <a:xfrm>
            <a:off x="3888000" y="766354"/>
            <a:ext cx="4363031"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488870" y="2057400"/>
            <a:ext cx="31239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r>
              <a:rPr lang="zh-CN" altLang="en-US"/>
              <a:t>Ming Tang @ SUSTech</a:t>
            </a:r>
            <a:endParaRPr lang="zh-CN" altLang="en-US" dirty="0"/>
          </a:p>
        </p:txBody>
      </p:sp>
      <p:sp>
        <p:nvSpPr>
          <p:cNvPr id="6" name="页脚占位符 5"/>
          <p:cNvSpPr>
            <a:spLocks noGrp="1"/>
          </p:cNvSpPr>
          <p:nvPr>
            <p:ph type="ftr" sz="quarter" idx="11"/>
          </p:nvPr>
        </p:nvSpPr>
        <p:spPr/>
        <p:txBody>
          <a:bodyPr/>
          <a:lstStyle/>
          <a:p>
            <a:r>
              <a:rPr lang="zh-CN" altLang="en-US" dirty="0"/>
              <a:t>GLOBECOM 2023</a:t>
            </a:r>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68363" y="365125"/>
            <a:ext cx="1146987" cy="5811838"/>
          </a:xfrm>
        </p:spPr>
        <p:txBody>
          <a:bodyPr vert="eaVert">
            <a:normAutofit/>
          </a:bodyPr>
          <a:lstStyle>
            <a:lvl1pPr>
              <a:defRPr sz="4400"/>
            </a:lvl1pPr>
          </a:lstStyle>
          <a:p>
            <a:r>
              <a:rPr lang="zh-CN" altLang="en-US" dirty="0"/>
              <a:t>单击此处编辑母版标题样式</a:t>
            </a:r>
          </a:p>
        </p:txBody>
      </p:sp>
      <p:sp>
        <p:nvSpPr>
          <p:cNvPr id="3" name="竖排文字占位符 2"/>
          <p:cNvSpPr>
            <a:spLocks noGrp="1"/>
          </p:cNvSpPr>
          <p:nvPr>
            <p:ph type="body" orient="vert" idx="1"/>
          </p:nvPr>
        </p:nvSpPr>
        <p:spPr>
          <a:xfrm>
            <a:off x="628650" y="365125"/>
            <a:ext cx="6659969"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r>
              <a:rPr lang="zh-CN" altLang="en-US"/>
              <a:t>Ming Tang @ SUSTech</a:t>
            </a:r>
          </a:p>
        </p:txBody>
      </p:sp>
      <p:sp>
        <p:nvSpPr>
          <p:cNvPr id="5" name="页脚占位符 4"/>
          <p:cNvSpPr>
            <a:spLocks noGrp="1"/>
          </p:cNvSpPr>
          <p:nvPr>
            <p:ph type="ftr" sz="quarter" idx="11"/>
          </p:nvPr>
        </p:nvSpPr>
        <p:spPr/>
        <p:txBody>
          <a:bodyPr/>
          <a:lstStyle/>
          <a:p>
            <a:r>
              <a:rPr lang="zh-CN" altLang="en-US"/>
              <a:t>GLOBECOM 2023</a:t>
            </a:r>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r>
              <a:rPr lang="zh-CN" altLang="en-US"/>
              <a:t>Ming Tang @ SUSTech</a:t>
            </a:r>
          </a:p>
        </p:txBody>
      </p:sp>
      <p:sp>
        <p:nvSpPr>
          <p:cNvPr id="4" name="页脚占位符 3"/>
          <p:cNvSpPr>
            <a:spLocks noGrp="1"/>
          </p:cNvSpPr>
          <p:nvPr>
            <p:ph type="ftr" sz="quarter" idx="11"/>
          </p:nvPr>
        </p:nvSpPr>
        <p:spPr/>
        <p:txBody>
          <a:bodyPr/>
          <a:lstStyle/>
          <a:p>
            <a:r>
              <a:rPr lang="zh-CN" altLang="en-US"/>
              <a:t>GLOBECOM 2023</a:t>
            </a:r>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628650" y="551543"/>
            <a:ext cx="78867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143000" y="1322962"/>
            <a:ext cx="6858000" cy="2187001"/>
          </a:xfrm>
        </p:spPr>
        <p:txBody>
          <a:bodyPr anchor="b">
            <a:normAutofit/>
          </a:bodyPr>
          <a:lstStyle>
            <a:lvl1pPr algn="ctr">
              <a:lnSpc>
                <a:spcPct val="130000"/>
              </a:lnSpc>
              <a:defRPr sz="6000">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r>
              <a:rPr lang="zh-CN" altLang="en-US"/>
              <a:t>Ming Tang @ SUSTech</a:t>
            </a:r>
          </a:p>
        </p:txBody>
      </p:sp>
      <p:sp>
        <p:nvSpPr>
          <p:cNvPr id="5" name="页脚占位符 4"/>
          <p:cNvSpPr>
            <a:spLocks noGrp="1"/>
          </p:cNvSpPr>
          <p:nvPr>
            <p:ph type="ftr" sz="quarter" idx="11"/>
          </p:nvPr>
        </p:nvSpPr>
        <p:spPr/>
        <p:txBody>
          <a:bodyPr/>
          <a:lstStyle/>
          <a:p>
            <a:r>
              <a:rPr lang="zh-CN" altLang="en-US"/>
              <a:t>GLOBECOM 2023</a:t>
            </a:r>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1143000" y="3602038"/>
            <a:ext cx="6858000" cy="1655762"/>
          </a:xfrm>
        </p:spPr>
        <p:txBody>
          <a:bodyPr>
            <a:normAutofit/>
          </a:bodyPr>
          <a:lstStyle>
            <a:lvl1pPr marL="0" indent="0" algn="ctr">
              <a:buNone/>
              <a:defRPr sz="2400">
                <a:solidFill>
                  <a:schemeClr val="tx1">
                    <a:lumMod val="65000"/>
                    <a:lumOff val="3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85775" y="258445"/>
            <a:ext cx="7886700" cy="1325563"/>
          </a:xfrm>
        </p:spPr>
        <p:txBody>
          <a:bodyPr anchor="ctr" anchorCtr="0">
            <a:normAutofit/>
          </a:bodyPr>
          <a:lstStyle>
            <a:lvl1pPr>
              <a:defRPr sz="4400" b="0">
                <a:effectLst/>
              </a:defRPr>
            </a:lvl1pPr>
          </a:lstStyle>
          <a:p>
            <a:r>
              <a:rPr lang="zh-CN" altLang="en-US" dirty="0"/>
              <a:t>单击此处编辑母版标题样式</a:t>
            </a:r>
          </a:p>
        </p:txBody>
      </p:sp>
      <p:sp>
        <p:nvSpPr>
          <p:cNvPr id="3" name="内容占位符 2"/>
          <p:cNvSpPr>
            <a:spLocks noGrp="1"/>
          </p:cNvSpPr>
          <p:nvPr>
            <p:ph idx="1"/>
          </p:nvPr>
        </p:nvSpPr>
        <p:spPr>
          <a:xfrm>
            <a:off x="485775" y="1825625"/>
            <a:ext cx="78867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r>
              <a:rPr lang="zh-CN" altLang="en-US"/>
              <a:t>Ming Tang @ SUSTech</a:t>
            </a:r>
          </a:p>
        </p:txBody>
      </p:sp>
      <p:sp>
        <p:nvSpPr>
          <p:cNvPr id="5" name="页脚占位符 4"/>
          <p:cNvSpPr>
            <a:spLocks noGrp="1"/>
          </p:cNvSpPr>
          <p:nvPr>
            <p:ph type="ftr" sz="quarter" idx="11"/>
          </p:nvPr>
        </p:nvSpPr>
        <p:spPr/>
        <p:txBody>
          <a:bodyPr/>
          <a:lstStyle/>
          <a:p>
            <a:r>
              <a:rPr lang="zh-CN" altLang="en-US"/>
              <a:t>GLOBECOM 2023</a:t>
            </a:r>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7" y="469127"/>
            <a:ext cx="7730945" cy="4093347"/>
          </a:xfrm>
        </p:spPr>
        <p:txBody>
          <a:bodyPr anchor="b">
            <a:normAutofit/>
          </a:bodyPr>
          <a:lstStyle>
            <a:lvl1pPr>
              <a:defRPr sz="6000">
                <a:effectLst/>
              </a:defRPr>
            </a:lvl1pPr>
          </a:lstStyle>
          <a:p>
            <a:r>
              <a:rPr lang="zh-CN" altLang="en-US" dirty="0"/>
              <a:t>单击此处编辑母版标题样式</a:t>
            </a:r>
          </a:p>
        </p:txBody>
      </p:sp>
      <p:sp>
        <p:nvSpPr>
          <p:cNvPr id="3" name="文本占位符 2"/>
          <p:cNvSpPr>
            <a:spLocks noGrp="1"/>
          </p:cNvSpPr>
          <p:nvPr>
            <p:ph type="body" idx="1"/>
          </p:nvPr>
        </p:nvSpPr>
        <p:spPr>
          <a:xfrm>
            <a:off x="623888" y="4610028"/>
            <a:ext cx="7730945" cy="647555"/>
          </a:xfrm>
        </p:spPr>
        <p:txBody>
          <a:bodyPr>
            <a:normAutofit/>
          </a:bodyPr>
          <a:lstStyle>
            <a:lvl1pPr marL="0" indent="0">
              <a:buNone/>
              <a:defRPr sz="2400">
                <a:solidFill>
                  <a:schemeClr val="tx1">
                    <a:lumMod val="65000"/>
                    <a:lumOff val="3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r>
              <a:rPr lang="zh-CN" altLang="en-US"/>
              <a:t>Ming Tang @ SUSTech</a:t>
            </a:r>
          </a:p>
        </p:txBody>
      </p:sp>
      <p:sp>
        <p:nvSpPr>
          <p:cNvPr id="5" name="页脚占位符 4"/>
          <p:cNvSpPr>
            <a:spLocks noGrp="1"/>
          </p:cNvSpPr>
          <p:nvPr>
            <p:ph type="ftr" sz="quarter" idx="11"/>
          </p:nvPr>
        </p:nvSpPr>
        <p:spPr/>
        <p:txBody>
          <a:bodyPr/>
          <a:lstStyle/>
          <a:p>
            <a:r>
              <a:rPr lang="zh-CN" altLang="en-US"/>
              <a:t>GLOBECOM 2023</a:t>
            </a:r>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85775" y="258445"/>
            <a:ext cx="7886700" cy="1325563"/>
          </a:xfrm>
        </p:spPr>
        <p:txBody>
          <a:bodyPr>
            <a:normAutofit/>
          </a:bodyPr>
          <a:lstStyle>
            <a:lvl1pPr>
              <a:defRPr sz="4400" b="0" i="0">
                <a:solidFill>
                  <a:schemeClr val="tx1">
                    <a:lumMod val="85000"/>
                    <a:lumOff val="15000"/>
                  </a:schemeClr>
                </a:solidFill>
                <a:effectLst/>
              </a:defRPr>
            </a:lvl1pPr>
          </a:lstStyle>
          <a:p>
            <a:r>
              <a:rPr lang="zh-CN" altLang="en-US" dirty="0"/>
              <a:t>单击此处编辑母版标题样式</a:t>
            </a:r>
          </a:p>
        </p:txBody>
      </p:sp>
      <p:sp>
        <p:nvSpPr>
          <p:cNvPr id="3" name="内容占位符 2"/>
          <p:cNvSpPr>
            <a:spLocks noGrp="1"/>
          </p:cNvSpPr>
          <p:nvPr>
            <p:ph sz="half" idx="1"/>
          </p:nvPr>
        </p:nvSpPr>
        <p:spPr>
          <a:xfrm>
            <a:off x="485775" y="1825625"/>
            <a:ext cx="3886200" cy="4351338"/>
          </a:xfrm>
        </p:spPr>
        <p:txBody>
          <a:bodyPr>
            <a:normAutofit/>
          </a:bodyPr>
          <a:lstStyle>
            <a:lvl1pPr>
              <a:lnSpc>
                <a:spcPct val="90000"/>
              </a:lnSpc>
              <a:defRPr sz="2800">
                <a:solidFill>
                  <a:schemeClr val="tx1">
                    <a:lumMod val="65000"/>
                    <a:lumOff val="35000"/>
                  </a:schemeClr>
                </a:solidFill>
              </a:defRPr>
            </a:lvl1pPr>
            <a:lvl2pPr>
              <a:lnSpc>
                <a:spcPct val="90000"/>
              </a:lnSpc>
              <a:defRPr sz="2400">
                <a:solidFill>
                  <a:schemeClr val="tx1">
                    <a:lumMod val="65000"/>
                    <a:lumOff val="35000"/>
                  </a:schemeClr>
                </a:solidFill>
              </a:defRPr>
            </a:lvl2pPr>
            <a:lvl3pPr>
              <a:lnSpc>
                <a:spcPct val="90000"/>
              </a:lnSpc>
              <a:defRPr sz="2000">
                <a:solidFill>
                  <a:schemeClr val="tx1">
                    <a:lumMod val="65000"/>
                    <a:lumOff val="35000"/>
                  </a:schemeClr>
                </a:solidFill>
              </a:defRPr>
            </a:lvl3pPr>
            <a:lvl4pPr>
              <a:lnSpc>
                <a:spcPct val="90000"/>
              </a:lnSpc>
              <a:defRPr sz="1800">
                <a:solidFill>
                  <a:schemeClr val="tx1">
                    <a:lumMod val="65000"/>
                    <a:lumOff val="35000"/>
                  </a:schemeClr>
                </a:solidFill>
              </a:defRPr>
            </a:lvl4pPr>
            <a:lvl5pPr>
              <a:lnSpc>
                <a:spcPct val="90000"/>
              </a:lnSpc>
              <a:defRPr sz="18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486275" y="1825625"/>
            <a:ext cx="3886200" cy="4351338"/>
          </a:xfrm>
        </p:spPr>
        <p:txBody>
          <a:bodyPr>
            <a:normAutofit/>
          </a:bodyPr>
          <a:lstStyle>
            <a:lvl1pPr>
              <a:lnSpc>
                <a:spcPct val="90000"/>
              </a:lnSpc>
              <a:defRPr sz="2800">
                <a:solidFill>
                  <a:schemeClr val="tx1">
                    <a:lumMod val="65000"/>
                    <a:lumOff val="35000"/>
                  </a:schemeClr>
                </a:solidFill>
              </a:defRPr>
            </a:lvl1pPr>
            <a:lvl2pPr>
              <a:lnSpc>
                <a:spcPct val="90000"/>
              </a:lnSpc>
              <a:defRPr sz="2400">
                <a:solidFill>
                  <a:schemeClr val="tx1">
                    <a:lumMod val="65000"/>
                    <a:lumOff val="35000"/>
                  </a:schemeClr>
                </a:solidFill>
              </a:defRPr>
            </a:lvl2pPr>
            <a:lvl3pPr>
              <a:lnSpc>
                <a:spcPct val="90000"/>
              </a:lnSpc>
              <a:defRPr sz="2000">
                <a:solidFill>
                  <a:schemeClr val="tx1">
                    <a:lumMod val="65000"/>
                    <a:lumOff val="35000"/>
                  </a:schemeClr>
                </a:solidFill>
              </a:defRPr>
            </a:lvl3pPr>
            <a:lvl4pPr>
              <a:lnSpc>
                <a:spcPct val="90000"/>
              </a:lnSpc>
              <a:defRPr sz="1800">
                <a:solidFill>
                  <a:schemeClr val="tx1">
                    <a:lumMod val="65000"/>
                    <a:lumOff val="35000"/>
                  </a:schemeClr>
                </a:solidFill>
              </a:defRPr>
            </a:lvl4pPr>
            <a:lvl5pPr>
              <a:lnSpc>
                <a:spcPct val="90000"/>
              </a:lnSpc>
              <a:defRPr sz="180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r>
              <a:rPr lang="zh-CN" altLang="en-US"/>
              <a:t>Ming Tang @ SUSTech</a:t>
            </a:r>
          </a:p>
        </p:txBody>
      </p:sp>
      <p:sp>
        <p:nvSpPr>
          <p:cNvPr id="6" name="页脚占位符 5"/>
          <p:cNvSpPr>
            <a:spLocks noGrp="1"/>
          </p:cNvSpPr>
          <p:nvPr>
            <p:ph type="ftr" sz="quarter" idx="11"/>
          </p:nvPr>
        </p:nvSpPr>
        <p:spPr/>
        <p:txBody>
          <a:bodyPr/>
          <a:lstStyle/>
          <a:p>
            <a:r>
              <a:rPr lang="zh-CN" altLang="en-US"/>
              <a:t>GLOBECOM 2023</a:t>
            </a:r>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dirty="0"/>
              <a:t>单击此处编辑母版标题样式</a:t>
            </a:r>
          </a:p>
        </p:txBody>
      </p:sp>
      <p:sp>
        <p:nvSpPr>
          <p:cNvPr id="3" name="文本占位符 2"/>
          <p:cNvSpPr>
            <a:spLocks noGrp="1"/>
          </p:cNvSpPr>
          <p:nvPr>
            <p:ph type="body" idx="1"/>
          </p:nvPr>
        </p:nvSpPr>
        <p:spPr>
          <a:xfrm>
            <a:off x="629841" y="1744961"/>
            <a:ext cx="3868340"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629841" y="2615609"/>
            <a:ext cx="3868340"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29150" y="1744961"/>
            <a:ext cx="3887391"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29150" y="2615609"/>
            <a:ext cx="3887391"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r>
              <a:rPr lang="zh-CN" altLang="en-US"/>
              <a:t>Ming Tang @ SUSTech</a:t>
            </a:r>
          </a:p>
        </p:txBody>
      </p:sp>
      <p:sp>
        <p:nvSpPr>
          <p:cNvPr id="8" name="页脚占位符 7"/>
          <p:cNvSpPr>
            <a:spLocks noGrp="1"/>
          </p:cNvSpPr>
          <p:nvPr>
            <p:ph type="ftr" sz="quarter" idx="11"/>
          </p:nvPr>
        </p:nvSpPr>
        <p:spPr/>
        <p:txBody>
          <a:bodyPr/>
          <a:lstStyle/>
          <a:p>
            <a:r>
              <a:rPr lang="zh-CN" altLang="en-US"/>
              <a:t>GLOBECOM 2023</a:t>
            </a:r>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2766219"/>
            <a:ext cx="7886700" cy="1325563"/>
          </a:xfrm>
        </p:spPr>
        <p:txBody>
          <a:bodyPr>
            <a:normAutofit/>
          </a:bodyPr>
          <a:lstStyle>
            <a:lvl1pPr algn="ctr">
              <a:defRPr sz="4400" b="0">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r>
              <a:rPr lang="zh-CN" altLang="en-US"/>
              <a:t>Ming Tang @ SUSTech</a:t>
            </a:r>
          </a:p>
        </p:txBody>
      </p:sp>
      <p:sp>
        <p:nvSpPr>
          <p:cNvPr id="4" name="页脚占位符 3"/>
          <p:cNvSpPr>
            <a:spLocks noGrp="1"/>
          </p:cNvSpPr>
          <p:nvPr>
            <p:ph type="ftr" sz="quarter" idx="11"/>
          </p:nvPr>
        </p:nvSpPr>
        <p:spPr/>
        <p:txBody>
          <a:bodyPr/>
          <a:lstStyle/>
          <a:p>
            <a:r>
              <a:rPr lang="zh-CN" altLang="en-US"/>
              <a:t>GLOBECOM 2023</a:t>
            </a:r>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r>
              <a:rPr lang="zh-CN" altLang="en-US"/>
              <a:t>Ming Tang @ SUSTech</a:t>
            </a:r>
          </a:p>
        </p:txBody>
      </p:sp>
      <p:sp>
        <p:nvSpPr>
          <p:cNvPr id="3" name="页脚占位符 2"/>
          <p:cNvSpPr>
            <a:spLocks noGrp="1"/>
          </p:cNvSpPr>
          <p:nvPr>
            <p:ph type="ftr" sz="quarter" idx="11"/>
          </p:nvPr>
        </p:nvSpPr>
        <p:spPr/>
        <p:txBody>
          <a:bodyPr/>
          <a:lstStyle/>
          <a:p>
            <a:r>
              <a:rPr lang="zh-CN" altLang="en-US"/>
              <a:t>GLOBECOM 2023</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85060" y="127000"/>
            <a:ext cx="3123900" cy="1600200"/>
          </a:xfrm>
        </p:spPr>
        <p:txBody>
          <a:bodyPr anchor="ctr" anchorCtr="0">
            <a:normAutofit/>
          </a:bodyPr>
          <a:lstStyle>
            <a:lvl1pPr>
              <a:defRPr sz="3200" b="0">
                <a:effectLst/>
              </a:defRPr>
            </a:lvl1pPr>
          </a:lstStyle>
          <a:p>
            <a:r>
              <a:rPr lang="zh-CN" altLang="en-US" dirty="0"/>
              <a:t>单击此处编辑标题</a:t>
            </a:r>
          </a:p>
        </p:txBody>
      </p:sp>
      <p:sp>
        <p:nvSpPr>
          <p:cNvPr id="3" name="图片占位符 2"/>
          <p:cNvSpPr>
            <a:spLocks noGrp="1"/>
          </p:cNvSpPr>
          <p:nvPr>
            <p:ph type="pic" idx="1"/>
          </p:nvPr>
        </p:nvSpPr>
        <p:spPr>
          <a:xfrm>
            <a:off x="3888000" y="766354"/>
            <a:ext cx="4363031"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488870" y="2057400"/>
            <a:ext cx="31239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r>
              <a:rPr lang="zh-CN" altLang="en-US"/>
              <a:t>Ming Tang @ SUSTech</a:t>
            </a:r>
            <a:endParaRPr lang="zh-CN" altLang="en-US" dirty="0"/>
          </a:p>
        </p:txBody>
      </p:sp>
      <p:sp>
        <p:nvSpPr>
          <p:cNvPr id="6" name="页脚占位符 5"/>
          <p:cNvSpPr>
            <a:spLocks noGrp="1"/>
          </p:cNvSpPr>
          <p:nvPr>
            <p:ph type="ftr" sz="quarter" idx="11"/>
          </p:nvPr>
        </p:nvSpPr>
        <p:spPr/>
        <p:txBody>
          <a:bodyPr/>
          <a:lstStyle/>
          <a:p>
            <a:r>
              <a:rPr lang="zh-CN" altLang="en-US" dirty="0"/>
              <a:t>GLOBECOM 2023</a:t>
            </a:r>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68363" y="365125"/>
            <a:ext cx="1146987" cy="5811838"/>
          </a:xfrm>
        </p:spPr>
        <p:txBody>
          <a:bodyPr vert="eaVert">
            <a:normAutofit/>
          </a:bodyPr>
          <a:lstStyle>
            <a:lvl1pPr>
              <a:defRPr sz="4400"/>
            </a:lvl1pPr>
          </a:lstStyle>
          <a:p>
            <a:r>
              <a:rPr lang="zh-CN" altLang="en-US" dirty="0"/>
              <a:t>单击此处编辑母版标题样式</a:t>
            </a:r>
          </a:p>
        </p:txBody>
      </p:sp>
      <p:sp>
        <p:nvSpPr>
          <p:cNvPr id="3" name="竖排文字占位符 2"/>
          <p:cNvSpPr>
            <a:spLocks noGrp="1"/>
          </p:cNvSpPr>
          <p:nvPr>
            <p:ph type="body" orient="vert" idx="1"/>
          </p:nvPr>
        </p:nvSpPr>
        <p:spPr>
          <a:xfrm>
            <a:off x="628650" y="365125"/>
            <a:ext cx="6659969"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r>
              <a:rPr lang="zh-CN" altLang="en-US"/>
              <a:t>Ming Tang @ SUSTech</a:t>
            </a:r>
          </a:p>
        </p:txBody>
      </p:sp>
      <p:sp>
        <p:nvSpPr>
          <p:cNvPr id="5" name="页脚占位符 4"/>
          <p:cNvSpPr>
            <a:spLocks noGrp="1"/>
          </p:cNvSpPr>
          <p:nvPr>
            <p:ph type="ftr" sz="quarter" idx="11"/>
          </p:nvPr>
        </p:nvSpPr>
        <p:spPr/>
        <p:txBody>
          <a:bodyPr/>
          <a:lstStyle/>
          <a:p>
            <a:r>
              <a:rPr lang="zh-CN" altLang="en-US"/>
              <a:t>GLOBECOM 2023</a:t>
            </a:r>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r>
              <a:rPr lang="zh-CN" altLang="en-US"/>
              <a:t>Ming Tang @ SUSTech</a:t>
            </a:r>
          </a:p>
        </p:txBody>
      </p:sp>
      <p:sp>
        <p:nvSpPr>
          <p:cNvPr id="4" name="页脚占位符 3"/>
          <p:cNvSpPr>
            <a:spLocks noGrp="1"/>
          </p:cNvSpPr>
          <p:nvPr>
            <p:ph type="ftr" sz="quarter" idx="11"/>
          </p:nvPr>
        </p:nvSpPr>
        <p:spPr/>
        <p:txBody>
          <a:bodyPr/>
          <a:lstStyle/>
          <a:p>
            <a:r>
              <a:rPr lang="zh-CN" altLang="en-US"/>
              <a:t>GLOBECOM 2023</a:t>
            </a:r>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628650" y="551543"/>
            <a:ext cx="78867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r>
              <a:rPr lang="zh-CN" altLang="en-US"/>
              <a:t>Ming Tang @ SUSTech</a:t>
            </a:r>
            <a:endParaRPr lang="zh-CN" altLang="en-US" dirty="0"/>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r>
              <a:rPr lang="zh-CN" altLang="en-US"/>
              <a:t>GLOBECOM 2023</a:t>
            </a:r>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p:txStyles>
    <p:titleStyle>
      <a:lvl1pPr algn="l" defTabSz="914400" rtl="0" eaLnBrk="1" latinLnBrk="0" hangingPunct="1">
        <a:lnSpc>
          <a:spcPct val="90000"/>
        </a:lnSpc>
        <a:spcBef>
          <a:spcPct val="0"/>
        </a:spcBef>
        <a:buNone/>
        <a:defRPr sz="4400" kern="120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r>
              <a:rPr lang="zh-CN" altLang="en-US"/>
              <a:t>Ming Tang @ SUSTech</a:t>
            </a:r>
            <a:endParaRPr lang="zh-CN" altLang="en-US" dirty="0"/>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r>
              <a:rPr lang="zh-CN" altLang="en-US"/>
              <a:t>GLOBECOM 2023</a:t>
            </a:r>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hf hdr="0"/>
  <p:txStyles>
    <p:titleStyle>
      <a:lvl1pPr algn="l" defTabSz="914400" rtl="0" eaLnBrk="1" latinLnBrk="0" hangingPunct="1">
        <a:lnSpc>
          <a:spcPct val="90000"/>
        </a:lnSpc>
        <a:spcBef>
          <a:spcPct val="0"/>
        </a:spcBef>
        <a:buNone/>
        <a:defRPr sz="4400" kern="120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224155" y="840740"/>
            <a:ext cx="8735060" cy="2186940"/>
          </a:xfrm>
        </p:spPr>
        <p:txBody>
          <a:bodyPr>
            <a:noAutofit/>
          </a:bodyPr>
          <a:lstStyle/>
          <a:p>
            <a:r>
              <a:rPr lang="en-US" sz="3200" b="1" dirty="0" err="1">
                <a:solidFill>
                  <a:schemeClr val="accent5">
                    <a:lumMod val="75000"/>
                  </a:schemeClr>
                </a:solidFill>
                <a:latin typeface="Times New Roman Bold" panose="02020603050405020304" charset="0"/>
                <a:cs typeface="Times New Roman Bold" panose="02020603050405020304" charset="0"/>
              </a:rPr>
              <a:t>FedTP</a:t>
            </a:r>
            <a:r>
              <a:rPr lang="en-US" sz="3200" b="1" dirty="0">
                <a:solidFill>
                  <a:schemeClr val="accent5">
                    <a:lumMod val="75000"/>
                  </a:schemeClr>
                </a:solidFill>
                <a:latin typeface="Times New Roman Bold" panose="02020603050405020304" charset="0"/>
                <a:cs typeface="Times New Roman Bold" panose="02020603050405020304" charset="0"/>
              </a:rPr>
              <a:t>: Federated Learning by Transformer</a:t>
            </a:r>
            <a:br>
              <a:rPr lang="en-US" sz="3200" b="1" dirty="0">
                <a:solidFill>
                  <a:schemeClr val="accent5">
                    <a:lumMod val="75000"/>
                  </a:schemeClr>
                </a:solidFill>
                <a:latin typeface="Times New Roman Bold" panose="02020603050405020304" charset="0"/>
                <a:cs typeface="Times New Roman Bold" panose="02020603050405020304" charset="0"/>
              </a:rPr>
            </a:br>
            <a:r>
              <a:rPr lang="en-US" sz="3200" b="1" dirty="0">
                <a:solidFill>
                  <a:schemeClr val="accent5">
                    <a:lumMod val="75000"/>
                  </a:schemeClr>
                </a:solidFill>
                <a:latin typeface="Times New Roman Bold" panose="02020603050405020304" charset="0"/>
                <a:cs typeface="Times New Roman Bold" panose="02020603050405020304" charset="0"/>
              </a:rPr>
              <a:t>Personalization</a:t>
            </a:r>
          </a:p>
        </p:txBody>
      </p:sp>
      <p:sp>
        <p:nvSpPr>
          <p:cNvPr id="4" name="Subtitle 3"/>
          <p:cNvSpPr>
            <a:spLocks noGrp="1"/>
          </p:cNvSpPr>
          <p:nvPr>
            <p:ph type="subTitle" idx="1"/>
          </p:nvPr>
        </p:nvSpPr>
        <p:spPr>
          <a:xfrm>
            <a:off x="276860" y="3748092"/>
            <a:ext cx="8682355" cy="1655445"/>
          </a:xfrm>
        </p:spPr>
        <p:txBody>
          <a:bodyPr>
            <a:normAutofit/>
          </a:bodyPr>
          <a:lstStyle/>
          <a:p>
            <a:r>
              <a:rPr lang="en-US" sz="2200" b="1" dirty="0" err="1">
                <a:solidFill>
                  <a:schemeClr val="tx1"/>
                </a:solidFill>
                <a:latin typeface="Times New Roman" panose="02020603050405020304" pitchFamily="18" charset="0"/>
                <a:cs typeface="Times New Roman" panose="02020603050405020304" pitchFamily="18" charset="0"/>
              </a:rPr>
              <a:t>Hongxia</a:t>
            </a:r>
            <a:r>
              <a:rPr lang="en-US" sz="2200" b="1" dirty="0">
                <a:solidFill>
                  <a:schemeClr val="tx1"/>
                </a:solidFill>
                <a:latin typeface="Times New Roman" panose="02020603050405020304" pitchFamily="18" charset="0"/>
                <a:cs typeface="Times New Roman" panose="02020603050405020304" pitchFamily="18" charset="0"/>
              </a:rPr>
              <a:t> Li, </a:t>
            </a:r>
            <a:r>
              <a:rPr lang="en-US" sz="2200" b="1" dirty="0" err="1">
                <a:solidFill>
                  <a:schemeClr val="tx1"/>
                </a:solidFill>
                <a:latin typeface="Times New Roman" panose="02020603050405020304" pitchFamily="18" charset="0"/>
                <a:cs typeface="Times New Roman" panose="02020603050405020304" pitchFamily="18" charset="0"/>
              </a:rPr>
              <a:t>Zhongyi</a:t>
            </a:r>
            <a:r>
              <a:rPr lang="en-US" sz="2200" b="1" dirty="0">
                <a:solidFill>
                  <a:schemeClr val="tx1"/>
                </a:solidFill>
                <a:latin typeface="Times New Roman" panose="02020603050405020304" pitchFamily="18" charset="0"/>
                <a:cs typeface="Times New Roman" panose="02020603050405020304" pitchFamily="18" charset="0"/>
              </a:rPr>
              <a:t> Cai, </a:t>
            </a:r>
            <a:r>
              <a:rPr lang="en-US" sz="2200" b="1" dirty="0" err="1">
                <a:solidFill>
                  <a:schemeClr val="tx1"/>
                </a:solidFill>
                <a:latin typeface="Times New Roman" panose="02020603050405020304" pitchFamily="18" charset="0"/>
                <a:cs typeface="Times New Roman" panose="02020603050405020304" pitchFamily="18" charset="0"/>
              </a:rPr>
              <a:t>Jingya</a:t>
            </a:r>
            <a:r>
              <a:rPr lang="en-US" sz="2200" b="1" dirty="0">
                <a:solidFill>
                  <a:schemeClr val="tx1"/>
                </a:solidFill>
                <a:latin typeface="Times New Roman" panose="02020603050405020304" pitchFamily="18" charset="0"/>
                <a:cs typeface="Times New Roman" panose="02020603050405020304" pitchFamily="18" charset="0"/>
              </a:rPr>
              <a:t> Wang</a:t>
            </a:r>
            <a:endParaRPr lang="en-US" sz="2000" dirty="0">
              <a:solidFill>
                <a:schemeClr val="tx1"/>
              </a:solidFill>
              <a:latin typeface="Times New Roman" panose="02020603050405020304" pitchFamily="18" charset="0"/>
              <a:cs typeface="Times New Roman" panose="02020603050405020304" pitchFamily="18" charset="0"/>
            </a:endParaRPr>
          </a:p>
          <a:p>
            <a:r>
              <a:rPr lang="en-US" sz="1400" dirty="0" err="1">
                <a:solidFill>
                  <a:schemeClr val="tx1"/>
                </a:solidFill>
                <a:latin typeface="Times New Roman" panose="02020603050405020304" pitchFamily="18" charset="0"/>
                <a:cs typeface="Times New Roman" panose="02020603050405020304" pitchFamily="18" charset="0"/>
              </a:rPr>
              <a:t>ShanghaiTech</a:t>
            </a:r>
            <a:r>
              <a:rPr lang="en-US" sz="1400" dirty="0">
                <a:solidFill>
                  <a:schemeClr val="tx1"/>
                </a:solidFill>
                <a:latin typeface="Times New Roman" panose="02020603050405020304" pitchFamily="18" charset="0"/>
                <a:cs typeface="Times New Roman" panose="02020603050405020304" pitchFamily="18" charset="0"/>
              </a:rPr>
              <a:t> University,</a:t>
            </a:r>
            <a:r>
              <a:rPr lang="zh-CN" altLang="en-US" sz="1400" dirty="0">
                <a:solidFill>
                  <a:schemeClr val="tx1"/>
                </a:solidFill>
                <a:latin typeface="Times New Roman" panose="02020603050405020304" pitchFamily="18" charset="0"/>
                <a:cs typeface="Times New Roman" panose="02020603050405020304" pitchFamily="18" charset="0"/>
              </a:rPr>
              <a:t> </a:t>
            </a:r>
            <a:r>
              <a:rPr lang="en-US" altLang="zh-CN" sz="1400" dirty="0">
                <a:solidFill>
                  <a:schemeClr val="tx1"/>
                </a:solidFill>
                <a:latin typeface="Times New Roman" panose="02020603050405020304" pitchFamily="18" charset="0"/>
                <a:cs typeface="Times New Roman" panose="02020603050405020304" pitchFamily="18" charset="0"/>
              </a:rPr>
              <a:t>Shanghai</a:t>
            </a:r>
            <a:endParaRPr lang="en-US" sz="1400" dirty="0">
              <a:solidFill>
                <a:schemeClr val="tx1"/>
              </a:solidFill>
              <a:latin typeface="Times New Roman" panose="02020603050405020304" pitchFamily="18" charset="0"/>
              <a:cs typeface="Times New Roman" panose="02020603050405020304" pitchFamily="18" charset="0"/>
            </a:endParaRPr>
          </a:p>
        </p:txBody>
      </p:sp>
      <p:pic>
        <p:nvPicPr>
          <p:cNvPr id="8" name="Picture 7" descr="sustech.logo_"/>
          <p:cNvPicPr>
            <a:picLocks noChangeAspect="1"/>
          </p:cNvPicPr>
          <p:nvPr/>
        </p:nvPicPr>
        <p:blipFill>
          <a:blip r:embed="rId3"/>
          <a:stretch>
            <a:fillRect/>
          </a:stretch>
        </p:blipFill>
        <p:spPr>
          <a:xfrm>
            <a:off x="3930793" y="5257479"/>
            <a:ext cx="1282065" cy="12820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Main Contribution</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2</a:t>
            </a:fld>
            <a:endParaRPr lang="zh-CN" altLang="en-US">
              <a:solidFill>
                <a:schemeClr val="bg1"/>
              </a:solidFill>
              <a:latin typeface="Arial Regular" panose="020B0604020202090204" charset="0"/>
              <a:cs typeface="Arial Regular" panose="020B0604020202090204" charset="0"/>
            </a:endParaRPr>
          </a:p>
        </p:txBody>
      </p:sp>
      <p:sp>
        <p:nvSpPr>
          <p:cNvPr id="4" name="文本框 3"/>
          <p:cNvSpPr txBox="1"/>
          <p:nvPr/>
        </p:nvSpPr>
        <p:spPr>
          <a:xfrm>
            <a:off x="628649" y="2192853"/>
            <a:ext cx="8126389" cy="1573392"/>
          </a:xfrm>
          <a:prstGeom prst="rect">
            <a:avLst/>
          </a:prstGeom>
          <a:noFill/>
        </p:spPr>
        <p:txBody>
          <a:bodyPr wrap="square" rtlCol="0">
            <a:noAutofit/>
          </a:bodyPr>
          <a:lstStyle/>
          <a:p>
            <a:pPr marL="457200" indent="-457200">
              <a:buAutoNum type="arabicPeriod"/>
            </a:pPr>
            <a:r>
              <a:rPr lang="en-US" sz="2000" dirty="0">
                <a:latin typeface="Times New Roman" panose="02020603050405020304" pitchFamily="18" charset="0"/>
                <a:ea typeface="Calibri" panose="020F0502020204030204" charset="0"/>
                <a:cs typeface="Times New Roman" panose="02020603050405020304" pitchFamily="18" charset="0"/>
              </a:rPr>
              <a:t>P</a:t>
            </a:r>
            <a:r>
              <a:rPr sz="2000" dirty="0">
                <a:latin typeface="Times New Roman" panose="02020603050405020304" pitchFamily="18" charset="0"/>
                <a:ea typeface="Calibri" panose="020F0502020204030204" charset="0"/>
                <a:cs typeface="Times New Roman" panose="02020603050405020304" pitchFamily="18" charset="0"/>
              </a:rPr>
              <a:t>roposes a federal learning framework for transformer: FedTP</a:t>
            </a:r>
          </a:p>
          <a:p>
            <a:pPr marL="457200" indent="-457200">
              <a:buAutoNum type="arabicPeriod"/>
            </a:pPr>
            <a:endParaRPr lang="en-US" sz="2000" dirty="0">
              <a:latin typeface="Times New Roman" panose="02020603050405020304" pitchFamily="18" charset="0"/>
              <a:ea typeface="Calibri" panose="020F0502020204030204" charset="0"/>
              <a:cs typeface="Times New Roman" panose="02020603050405020304" pitchFamily="18" charset="0"/>
            </a:endParaRPr>
          </a:p>
          <a:p>
            <a:pPr marL="457200" indent="-457200">
              <a:buAutoNum type="arabicPeriod"/>
            </a:pPr>
            <a:r>
              <a:rPr lang="en-US" sz="2000" dirty="0">
                <a:latin typeface="Times New Roman" panose="02020603050405020304" pitchFamily="18" charset="0"/>
                <a:ea typeface="Calibri" panose="020F0502020204030204" charset="0"/>
                <a:cs typeface="Times New Roman" panose="02020603050405020304" pitchFamily="18" charset="0"/>
              </a:rPr>
              <a:t>P</a:t>
            </a:r>
            <a:r>
              <a:rPr sz="2000" dirty="0">
                <a:latin typeface="Times New Roman" panose="02020603050405020304" pitchFamily="18" charset="0"/>
                <a:ea typeface="Calibri" panose="020F0502020204030204" charset="0"/>
                <a:cs typeface="Times New Roman" panose="02020603050405020304" pitchFamily="18" charset="0"/>
              </a:rPr>
              <a:t>resent the generalization bound for FedTP</a:t>
            </a:r>
          </a:p>
          <a:p>
            <a:pPr indent="0">
              <a:buNone/>
            </a:pPr>
            <a:endParaRPr lang="en-US" altLang="zh-CN" sz="2000" dirty="0">
              <a:latin typeface="Times New Roman" panose="02020603050405020304" pitchFamily="18" charset="0"/>
              <a:ea typeface="Calibri" panose="020F0502020204030204"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Transformer VS CNN</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3</a:t>
            </a:fld>
            <a:endParaRPr lang="zh-CN" altLang="en-US">
              <a:solidFill>
                <a:schemeClr val="bg1"/>
              </a:solidFill>
              <a:latin typeface="Arial Regular" panose="020B0604020202090204" charset="0"/>
              <a:cs typeface="Arial Regular" panose="020B0604020202090204" charset="0"/>
            </a:endParaRPr>
          </a:p>
        </p:txBody>
      </p:sp>
      <p:sp>
        <p:nvSpPr>
          <p:cNvPr id="4" name="文本框 3"/>
          <p:cNvSpPr txBox="1"/>
          <p:nvPr/>
        </p:nvSpPr>
        <p:spPr>
          <a:xfrm>
            <a:off x="628649" y="1361638"/>
            <a:ext cx="8126389" cy="1573392"/>
          </a:xfrm>
          <a:prstGeom prst="rect">
            <a:avLst/>
          </a:prstGeom>
          <a:noFill/>
        </p:spPr>
        <p:txBody>
          <a:bodyPr wrap="square" rtlCol="0">
            <a:noAutofit/>
          </a:bodyPr>
          <a:lstStyle/>
          <a:p>
            <a:pPr marL="457200" indent="-457200">
              <a:buAutoNum type="arabicPeriod"/>
            </a:pPr>
            <a:r>
              <a:rPr sz="2000" dirty="0">
                <a:latin typeface="Times New Roman" panose="02020603050405020304" pitchFamily="18" charset="0"/>
                <a:ea typeface="Calibri" panose="020F0502020204030204" charset="0"/>
                <a:cs typeface="Times New Roman" panose="02020603050405020304" pitchFamily="18" charset="0"/>
              </a:rPr>
              <a:t>CNN focuses more on extracting local features</a:t>
            </a:r>
          </a:p>
          <a:p>
            <a:pPr marL="457200" indent="-457200">
              <a:buAutoNum type="arabicPeriod"/>
            </a:pPr>
            <a:endParaRPr sz="2000" dirty="0">
              <a:latin typeface="Times New Roman" panose="02020603050405020304" pitchFamily="18" charset="0"/>
              <a:ea typeface="Calibri" panose="020F0502020204030204" charset="0"/>
              <a:cs typeface="Times New Roman" panose="02020603050405020304" pitchFamily="18" charset="0"/>
            </a:endParaRPr>
          </a:p>
          <a:p>
            <a:pPr marL="457200" indent="-457200">
              <a:buAutoNum type="arabicPeriod"/>
            </a:pPr>
            <a:r>
              <a:rPr sz="2000" dirty="0">
                <a:latin typeface="Times New Roman" panose="02020603050405020304" pitchFamily="18" charset="0"/>
                <a:ea typeface="Calibri" panose="020F0502020204030204" charset="0"/>
                <a:cs typeface="Times New Roman" panose="02020603050405020304" pitchFamily="18" charset="0"/>
              </a:rPr>
              <a:t>Transformer is better suited for learning about global data</a:t>
            </a:r>
          </a:p>
          <a:p>
            <a:pPr marL="457200" indent="-457200">
              <a:buAutoNum type="arabicPeriod"/>
            </a:pPr>
            <a:endParaRPr sz="2000" dirty="0">
              <a:latin typeface="Times New Roman" panose="02020603050405020304" pitchFamily="18" charset="0"/>
              <a:ea typeface="Calibri" panose="020F0502020204030204" charset="0"/>
              <a:cs typeface="Times New Roman" panose="02020603050405020304" pitchFamily="18" charset="0"/>
            </a:endParaRPr>
          </a:p>
          <a:p>
            <a:pPr marL="457200" indent="-457200">
              <a:buAutoNum type="arabicPeriod"/>
            </a:pPr>
            <a:r>
              <a:rPr sz="2000" dirty="0">
                <a:latin typeface="Times New Roman" panose="02020603050405020304" pitchFamily="18" charset="0"/>
                <a:ea typeface="Calibri" panose="020F0502020204030204" charset="0"/>
                <a:cs typeface="Times New Roman" panose="02020603050405020304" pitchFamily="18" charset="0"/>
              </a:rPr>
              <a:t>Transformer works better when dealing with non-IID data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Starting Point</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4</a:t>
            </a:fld>
            <a:endParaRPr lang="zh-CN" altLang="en-US">
              <a:solidFill>
                <a:schemeClr val="bg1"/>
              </a:solidFill>
              <a:latin typeface="Arial Regular" panose="020B0604020202090204" charset="0"/>
              <a:cs typeface="Arial Regular" panose="020B0604020202090204" charset="0"/>
            </a:endParaRPr>
          </a:p>
        </p:txBody>
      </p:sp>
      <p:sp>
        <p:nvSpPr>
          <p:cNvPr id="4" name="文本框 3"/>
          <p:cNvSpPr txBox="1"/>
          <p:nvPr/>
        </p:nvSpPr>
        <p:spPr>
          <a:xfrm>
            <a:off x="628649" y="1361638"/>
            <a:ext cx="8126389" cy="1573392"/>
          </a:xfrm>
          <a:prstGeom prst="rect">
            <a:avLst/>
          </a:prstGeom>
          <a:noFill/>
        </p:spPr>
        <p:txBody>
          <a:bodyPr wrap="square" rtlCol="0">
            <a:noAutofit/>
          </a:bodyPr>
          <a:lstStyle/>
          <a:p>
            <a:pPr marL="457200" indent="-457200">
              <a:buAutoNum type="arabicPeriod"/>
            </a:pPr>
            <a:r>
              <a:rPr sz="2000" dirty="0">
                <a:latin typeface="Times New Roman" panose="02020603050405020304" pitchFamily="18" charset="0"/>
                <a:ea typeface="Calibri" panose="020F0502020204030204" charset="0"/>
                <a:cs typeface="Times New Roman" panose="02020603050405020304" pitchFamily="18" charset="0"/>
              </a:rPr>
              <a:t>There are very few jobs using transformer in federal learning</a:t>
            </a:r>
          </a:p>
          <a:p>
            <a:pPr marL="457200" indent="-457200">
              <a:buAutoNum type="arabicPeriod"/>
            </a:pPr>
            <a:endParaRPr lang="en-US" altLang="zh-CN" sz="2000" dirty="0">
              <a:latin typeface="Times New Roman" panose="02020603050405020304" pitchFamily="18" charset="0"/>
              <a:ea typeface="Calibri" panose="020F0502020204030204" charset="0"/>
              <a:cs typeface="Times New Roman" panose="02020603050405020304" pitchFamily="18" charset="0"/>
            </a:endParaRPr>
          </a:p>
          <a:p>
            <a:pPr marL="457200" indent="-457200">
              <a:buAutoNum type="arabicPeriod"/>
            </a:pPr>
            <a:r>
              <a:rPr sz="2000" dirty="0">
                <a:latin typeface="Times New Roman" panose="02020603050405020304" pitchFamily="18" charset="0"/>
                <a:ea typeface="Calibri" panose="020F0502020204030204" charset="0"/>
                <a:cs typeface="Times New Roman" panose="02020603050405020304" pitchFamily="18" charset="0"/>
              </a:rPr>
              <a:t>In the field of machine learning, transformer has become mainstream for classification tasks.</a:t>
            </a:r>
          </a:p>
          <a:p>
            <a:pPr marL="457200" indent="-457200">
              <a:buAutoNum type="arabicPeriod"/>
            </a:pPr>
            <a:endParaRPr sz="2000" dirty="0">
              <a:latin typeface="Times New Roman" panose="02020603050405020304" pitchFamily="18" charset="0"/>
              <a:ea typeface="Calibri" panose="020F0502020204030204" charset="0"/>
              <a:cs typeface="Times New Roman" panose="02020603050405020304" pitchFamily="18" charset="0"/>
            </a:endParaRPr>
          </a:p>
          <a:p>
            <a:pPr marL="457200" indent="-457200">
              <a:buAutoNum type="arabicPeriod"/>
            </a:pPr>
            <a:r>
              <a:rPr sz="2000" dirty="0">
                <a:latin typeface="Times New Roman" panose="02020603050405020304" pitchFamily="18" charset="0"/>
                <a:ea typeface="Calibri" panose="020F0502020204030204" charset="0"/>
                <a:cs typeface="Times New Roman" panose="02020603050405020304" pitchFamily="18" charset="0"/>
              </a:rPr>
              <a:t>The aggregation process of federated learning can compromise self-attention mechanisms, especially in the case of non-IID data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Effects under Aggregation</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5</a:t>
            </a:fld>
            <a:endParaRPr lang="zh-CN" altLang="en-US">
              <a:solidFill>
                <a:schemeClr val="bg1"/>
              </a:solidFill>
              <a:latin typeface="Arial Regular" panose="020B0604020202090204" charset="0"/>
              <a:cs typeface="Arial Regular" panose="020B0604020202090204" charset="0"/>
            </a:endParaRPr>
          </a:p>
        </p:txBody>
      </p:sp>
      <p:sp>
        <p:nvSpPr>
          <p:cNvPr id="2" name="文本框 1"/>
          <p:cNvSpPr txBox="1"/>
          <p:nvPr/>
        </p:nvSpPr>
        <p:spPr>
          <a:xfrm>
            <a:off x="628649" y="1361638"/>
            <a:ext cx="8126389" cy="1573392"/>
          </a:xfrm>
          <a:prstGeom prst="rect">
            <a:avLst/>
          </a:prstGeom>
          <a:noFill/>
        </p:spPr>
        <p:txBody>
          <a:bodyPr wrap="square" rtlCol="0">
            <a:noAutofit/>
          </a:bodyPr>
          <a:lstStyle/>
          <a:p>
            <a:r>
              <a:rPr lang="en-US" altLang="zh-CN" sz="2000" dirty="0" err="1">
                <a:latin typeface="Times New Roman" panose="02020603050405020304" pitchFamily="18" charset="0"/>
                <a:ea typeface="Calibri" panose="020F0502020204030204" charset="0"/>
                <a:cs typeface="Times New Roman" panose="02020603050405020304" pitchFamily="18" charset="0"/>
              </a:rPr>
              <a:t>FedAvg</a:t>
            </a:r>
            <a:r>
              <a:rPr lang="en-US" altLang="zh-CN" sz="2000" dirty="0">
                <a:latin typeface="Times New Roman" panose="02020603050405020304" pitchFamily="18" charset="0"/>
                <a:ea typeface="Calibri" panose="020F0502020204030204" charset="0"/>
                <a:cs typeface="Times New Roman" panose="02020603050405020304" pitchFamily="18" charset="0"/>
              </a:rPr>
              <a:t>-T: a</a:t>
            </a:r>
            <a:r>
              <a:rPr sz="2000" dirty="0">
                <a:latin typeface="Times New Roman" panose="02020603050405020304" pitchFamily="18" charset="0"/>
                <a:ea typeface="Calibri" panose="020F0502020204030204" charset="0"/>
                <a:cs typeface="Times New Roman" panose="02020603050405020304" pitchFamily="18" charset="0"/>
              </a:rPr>
              <a:t>pply </a:t>
            </a:r>
            <a:r>
              <a:rPr sz="2000" dirty="0" err="1">
                <a:latin typeface="Times New Roman" panose="02020603050405020304" pitchFamily="18" charset="0"/>
                <a:ea typeface="Calibri" panose="020F0502020204030204" charset="0"/>
                <a:cs typeface="Times New Roman" panose="02020603050405020304" pitchFamily="18" charset="0"/>
              </a:rPr>
              <a:t>FedAvg</a:t>
            </a:r>
            <a:r>
              <a:rPr sz="2000" dirty="0">
                <a:latin typeface="Times New Roman" panose="02020603050405020304" pitchFamily="18" charset="0"/>
                <a:ea typeface="Calibri" panose="020F0502020204030204" charset="0"/>
                <a:cs typeface="Times New Roman" panose="02020603050405020304" pitchFamily="18" charset="0"/>
              </a:rPr>
              <a:t> directly to Transformer</a:t>
            </a:r>
          </a:p>
          <a:p>
            <a:endParaRPr sz="2000" dirty="0">
              <a:latin typeface="Times New Roman" panose="02020603050405020304" pitchFamily="18" charset="0"/>
              <a:ea typeface="Calibri" panose="020F0502020204030204" charset="0"/>
              <a:cs typeface="Times New Roman" panose="02020603050405020304" pitchFamily="18" charset="0"/>
            </a:endParaRPr>
          </a:p>
          <a:p>
            <a:r>
              <a:rPr lang="en-US" altLang="zh-CN" sz="2000" dirty="0">
                <a:latin typeface="Times New Roman" panose="02020603050405020304" pitchFamily="18" charset="0"/>
                <a:ea typeface="Calibri" panose="020F0502020204030204" charset="0"/>
                <a:cs typeface="Times New Roman" panose="02020603050405020304" pitchFamily="18" charset="0"/>
                <a:sym typeface="+mn-ea"/>
              </a:rPr>
              <a:t>Vanilla Personalized-T: a</a:t>
            </a:r>
            <a:r>
              <a:rPr sz="2000" dirty="0">
                <a:latin typeface="Times New Roman" panose="02020603050405020304" pitchFamily="18" charset="0"/>
                <a:ea typeface="Calibri" panose="020F0502020204030204" charset="0"/>
                <a:cs typeface="Times New Roman" panose="02020603050405020304" pitchFamily="18" charset="0"/>
                <a:sym typeface="+mn-ea"/>
              </a:rPr>
              <a:t>pply FedAvg to Transformer, but only aggregate from layers other than attention</a:t>
            </a:r>
          </a:p>
          <a:p>
            <a:endParaRPr lang="en-US" altLang="zh-CN" sz="2000" dirty="0">
              <a:latin typeface="Times New Roman" panose="02020603050405020304" pitchFamily="18" charset="0"/>
              <a:ea typeface="Calibri" panose="020F0502020204030204" charset="0"/>
              <a:cs typeface="Times New Roman" panose="02020603050405020304" pitchFamily="18" charset="0"/>
            </a:endParaRPr>
          </a:p>
          <a:p>
            <a:r>
              <a:rPr lang="en-US" altLang="zh-CN" sz="2000" dirty="0">
                <a:latin typeface="Times New Roman" panose="02020603050405020304" pitchFamily="18" charset="0"/>
                <a:ea typeface="Calibri" panose="020F0502020204030204" charset="0"/>
                <a:cs typeface="Times New Roman" panose="02020603050405020304" pitchFamily="18" charset="0"/>
              </a:rPr>
              <a:t>Local-T: </a:t>
            </a:r>
            <a:r>
              <a:rPr sz="2000" dirty="0">
                <a:latin typeface="Times New Roman" panose="02020603050405020304" pitchFamily="18" charset="0"/>
                <a:ea typeface="Calibri" panose="020F0502020204030204" charset="0"/>
                <a:cs typeface="Times New Roman" panose="02020603050405020304" pitchFamily="18" charset="0"/>
              </a:rPr>
              <a:t>Each </a:t>
            </a:r>
            <a:r>
              <a:rPr lang="en-US" sz="2000" dirty="0">
                <a:latin typeface="Times New Roman" panose="02020603050405020304" pitchFamily="18" charset="0"/>
                <a:ea typeface="Calibri" panose="020F0502020204030204" charset="0"/>
                <a:cs typeface="Times New Roman" panose="02020603050405020304" pitchFamily="18" charset="0"/>
              </a:rPr>
              <a:t>client</a:t>
            </a:r>
            <a:r>
              <a:rPr sz="2000" dirty="0">
                <a:latin typeface="Times New Roman" panose="02020603050405020304" pitchFamily="18" charset="0"/>
                <a:ea typeface="Calibri" panose="020F0502020204030204" charset="0"/>
                <a:cs typeface="Times New Roman" panose="02020603050405020304" pitchFamily="18" charset="0"/>
              </a:rPr>
              <a:t> trains Transformer independently using their own local data</a:t>
            </a:r>
          </a:p>
          <a:p>
            <a:endParaRPr lang="en-US" altLang="zh-CN" sz="2000" dirty="0">
              <a:latin typeface="Times New Roman" panose="02020603050405020304" pitchFamily="18" charset="0"/>
              <a:ea typeface="Calibri" panose="020F0502020204030204" charset="0"/>
              <a:cs typeface="Times New Roman" panose="02020603050405020304" pitchFamily="18" charset="0"/>
            </a:endParaRPr>
          </a:p>
          <a:p>
            <a:endParaRPr lang="en-US" altLang="zh-CN" sz="2000" dirty="0">
              <a:latin typeface="Times New Roman" panose="02020603050405020304" pitchFamily="18" charset="0"/>
              <a:ea typeface="Calibri" panose="020F0502020204030204"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Effects under Non-</a:t>
            </a:r>
            <a:r>
              <a:rPr lang="en-US" altLang="zh-CN" sz="3600" b="1" dirty="0">
                <a:solidFill>
                  <a:schemeClr val="accent5">
                    <a:lumMod val="75000"/>
                  </a:schemeClr>
                </a:solidFill>
                <a:latin typeface="Times New Roman Bold" panose="02020603050405020304" charset="0"/>
                <a:cs typeface="Times New Roman Bold" panose="02020603050405020304" charset="0"/>
              </a:rPr>
              <a:t>IID</a:t>
            </a:r>
            <a:r>
              <a:rPr lang="en-US" sz="3600" b="1" dirty="0">
                <a:solidFill>
                  <a:schemeClr val="accent5">
                    <a:lumMod val="75000"/>
                  </a:schemeClr>
                </a:solidFill>
                <a:latin typeface="Times New Roman Bold" panose="02020603050405020304" charset="0"/>
                <a:cs typeface="Times New Roman Bold" panose="02020603050405020304" charset="0"/>
              </a:rPr>
              <a:t> Data</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6</a:t>
            </a:fld>
            <a:endParaRPr lang="zh-CN" altLang="en-US">
              <a:solidFill>
                <a:schemeClr val="bg1"/>
              </a:solidFill>
              <a:latin typeface="Arial Regular" panose="020B0604020202090204" charset="0"/>
              <a:cs typeface="Arial Regular" panose="020B0604020202090204" charset="0"/>
            </a:endParaRPr>
          </a:p>
        </p:txBody>
      </p:sp>
      <p:pic>
        <p:nvPicPr>
          <p:cNvPr id="3" name="图片 2"/>
          <p:cNvPicPr>
            <a:picLocks noChangeAspect="1"/>
          </p:cNvPicPr>
          <p:nvPr/>
        </p:nvPicPr>
        <p:blipFill>
          <a:blip r:embed="rId3"/>
          <a:stretch>
            <a:fillRect/>
          </a:stretch>
        </p:blipFill>
        <p:spPr>
          <a:xfrm>
            <a:off x="319405" y="1155065"/>
            <a:ext cx="8195945" cy="52501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Algorithm Overview</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7</a:t>
            </a:fld>
            <a:endParaRPr lang="zh-CN" altLang="en-US">
              <a:solidFill>
                <a:schemeClr val="bg1"/>
              </a:solidFill>
              <a:latin typeface="Arial Regular" panose="020B0604020202090204" charset="0"/>
              <a:cs typeface="Arial Regular" panose="020B0604020202090204" charset="0"/>
            </a:endParaRPr>
          </a:p>
        </p:txBody>
      </p:sp>
      <p:pic>
        <p:nvPicPr>
          <p:cNvPr id="2" name="图片 1"/>
          <p:cNvPicPr>
            <a:picLocks noChangeAspect="1"/>
          </p:cNvPicPr>
          <p:nvPr/>
        </p:nvPicPr>
        <p:blipFill>
          <a:blip r:embed="rId3"/>
          <a:stretch>
            <a:fillRect/>
          </a:stretch>
        </p:blipFill>
        <p:spPr>
          <a:xfrm>
            <a:off x="12065" y="1600200"/>
            <a:ext cx="9144000" cy="42456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Problem Formulation</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8</a:t>
            </a:fld>
            <a:endParaRPr lang="zh-CN" altLang="en-US">
              <a:solidFill>
                <a:schemeClr val="bg1"/>
              </a:solidFill>
              <a:latin typeface="Arial Regular" panose="020B0604020202090204" charset="0"/>
              <a:cs typeface="Arial Regular" panose="020B0604020202090204" charset="0"/>
            </a:endParaRPr>
          </a:p>
        </p:txBody>
      </p:sp>
      <p:sp>
        <p:nvSpPr>
          <p:cNvPr id="4" name="文本框 3"/>
          <p:cNvSpPr txBox="1"/>
          <p:nvPr/>
        </p:nvSpPr>
        <p:spPr>
          <a:xfrm>
            <a:off x="434340" y="2103755"/>
            <a:ext cx="4086225" cy="1106170"/>
          </a:xfrm>
          <a:prstGeom prst="rect">
            <a:avLst/>
          </a:prstGeom>
          <a:noFill/>
        </p:spPr>
        <p:txBody>
          <a:bodyPr wrap="square" rtlCol="0">
            <a:noAutofit/>
          </a:bodyPr>
          <a:lstStyle/>
          <a:p>
            <a:pPr indent="0">
              <a:buNone/>
            </a:pPr>
            <a:r>
              <a:rPr lang="en-US" altLang="zh-CN" sz="2400" dirty="0">
                <a:latin typeface="Times New Roman Regular" panose="02020603050405020304" charset="0"/>
                <a:ea typeface="Calibri" panose="020F0502020204030204" charset="0"/>
                <a:cs typeface="Times New Roman Regular" panose="02020603050405020304" charset="0"/>
              </a:rPr>
              <a:t>P</a:t>
            </a:r>
            <a:r>
              <a:rPr lang="zh-CN" altLang="en-US" sz="2400" dirty="0">
                <a:latin typeface="Times New Roman Regular" panose="02020603050405020304" charset="0"/>
                <a:ea typeface="Calibri" panose="020F0502020204030204" charset="0"/>
                <a:cs typeface="Times New Roman Regular" panose="02020603050405020304" charset="0"/>
              </a:rPr>
              <a:t>rojection parameters</a:t>
            </a:r>
            <a:r>
              <a:rPr lang="en-US" altLang="zh-CN" sz="2400" dirty="0">
                <a:latin typeface="Times New Roman Regular" panose="02020603050405020304" charset="0"/>
                <a:ea typeface="Calibri" panose="020F0502020204030204" charset="0"/>
                <a:cs typeface="Times New Roman Regular" panose="02020603050405020304" charset="0"/>
              </a:rPr>
              <a:t>:</a:t>
            </a:r>
          </a:p>
          <a:p>
            <a:pPr indent="0">
              <a:buNone/>
            </a:pPr>
            <a:endParaRPr lang="en-US" altLang="zh-CN" sz="2400" dirty="0">
              <a:latin typeface="Times New Roman Regular" panose="02020603050405020304" charset="0"/>
              <a:ea typeface="Calibri" panose="020F0502020204030204" charset="0"/>
              <a:cs typeface="Times New Roman Regular" panose="02020603050405020304" charset="0"/>
            </a:endParaRPr>
          </a:p>
          <a:p>
            <a:pPr indent="0">
              <a:buNone/>
            </a:pPr>
            <a:r>
              <a:rPr lang="en-US" altLang="zh-CN" sz="2400" dirty="0">
                <a:latin typeface="Times New Roman Regular" panose="02020603050405020304" charset="0"/>
                <a:ea typeface="Calibri" panose="020F0502020204030204" charset="0"/>
                <a:cs typeface="Times New Roman Regular" panose="02020603050405020304" charset="0"/>
              </a:rPr>
              <a:t>Selfattention mechanism:</a:t>
            </a:r>
          </a:p>
        </p:txBody>
      </p:sp>
      <p:pic>
        <p:nvPicPr>
          <p:cNvPr id="3" name="图片 2"/>
          <p:cNvPicPr>
            <a:picLocks noChangeAspect="1"/>
          </p:cNvPicPr>
          <p:nvPr/>
        </p:nvPicPr>
        <p:blipFill>
          <a:blip r:embed="rId3"/>
          <a:stretch>
            <a:fillRect/>
          </a:stretch>
        </p:blipFill>
        <p:spPr>
          <a:xfrm>
            <a:off x="3842385" y="2181225"/>
            <a:ext cx="2692400" cy="381000"/>
          </a:xfrm>
          <a:prstGeom prst="rect">
            <a:avLst/>
          </a:prstGeom>
        </p:spPr>
      </p:pic>
      <p:pic>
        <p:nvPicPr>
          <p:cNvPr id="5" name="图片 4"/>
          <p:cNvPicPr>
            <a:picLocks noChangeAspect="1"/>
          </p:cNvPicPr>
          <p:nvPr/>
        </p:nvPicPr>
        <p:blipFill>
          <a:blip r:embed="rId4"/>
          <a:stretch>
            <a:fillRect/>
          </a:stretch>
        </p:blipFill>
        <p:spPr>
          <a:xfrm>
            <a:off x="3770630" y="2858770"/>
            <a:ext cx="1397000" cy="419100"/>
          </a:xfrm>
          <a:prstGeom prst="rect">
            <a:avLst/>
          </a:prstGeom>
        </p:spPr>
      </p:pic>
      <p:pic>
        <p:nvPicPr>
          <p:cNvPr id="7" name="图片 6"/>
          <p:cNvPicPr>
            <a:picLocks noChangeAspect="1"/>
          </p:cNvPicPr>
          <p:nvPr/>
        </p:nvPicPr>
        <p:blipFill>
          <a:blip r:embed="rId5"/>
          <a:stretch>
            <a:fillRect/>
          </a:stretch>
        </p:blipFill>
        <p:spPr>
          <a:xfrm>
            <a:off x="5361940" y="2872105"/>
            <a:ext cx="1524000" cy="431800"/>
          </a:xfrm>
          <a:prstGeom prst="rect">
            <a:avLst/>
          </a:prstGeom>
        </p:spPr>
      </p:pic>
      <p:pic>
        <p:nvPicPr>
          <p:cNvPr id="8" name="图片 7"/>
          <p:cNvPicPr>
            <a:picLocks noChangeAspect="1"/>
          </p:cNvPicPr>
          <p:nvPr/>
        </p:nvPicPr>
        <p:blipFill>
          <a:blip r:embed="rId6"/>
          <a:stretch>
            <a:fillRect/>
          </a:stretch>
        </p:blipFill>
        <p:spPr>
          <a:xfrm>
            <a:off x="7080250" y="2879725"/>
            <a:ext cx="1435100" cy="330200"/>
          </a:xfrm>
          <a:prstGeom prst="rect">
            <a:avLst/>
          </a:prstGeom>
        </p:spPr>
      </p:pic>
      <p:grpSp>
        <p:nvGrpSpPr>
          <p:cNvPr id="16" name="组合 15"/>
          <p:cNvGrpSpPr/>
          <p:nvPr/>
        </p:nvGrpSpPr>
        <p:grpSpPr>
          <a:xfrm>
            <a:off x="1738630" y="4241165"/>
            <a:ext cx="5016500" cy="495300"/>
            <a:chOff x="2247" y="5036"/>
            <a:chExt cx="7900" cy="780"/>
          </a:xfrm>
        </p:grpSpPr>
        <p:pic>
          <p:nvPicPr>
            <p:cNvPr id="14" name="图片 13"/>
            <p:cNvPicPr>
              <a:picLocks noChangeAspect="1"/>
            </p:cNvPicPr>
            <p:nvPr/>
          </p:nvPicPr>
          <p:blipFill>
            <a:blip r:embed="rId7"/>
            <a:stretch>
              <a:fillRect/>
            </a:stretch>
          </p:blipFill>
          <p:spPr>
            <a:xfrm>
              <a:off x="2247" y="5236"/>
              <a:ext cx="4360" cy="580"/>
            </a:xfrm>
            <a:prstGeom prst="rect">
              <a:avLst/>
            </a:prstGeom>
          </p:spPr>
        </p:pic>
        <p:pic>
          <p:nvPicPr>
            <p:cNvPr id="15" name="图片 14"/>
            <p:cNvPicPr>
              <a:picLocks noChangeAspect="1"/>
            </p:cNvPicPr>
            <p:nvPr/>
          </p:nvPicPr>
          <p:blipFill>
            <a:blip r:embed="rId8"/>
            <a:stretch>
              <a:fillRect/>
            </a:stretch>
          </p:blipFill>
          <p:spPr>
            <a:xfrm>
              <a:off x="6607" y="5036"/>
              <a:ext cx="3540" cy="780"/>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Problem Formulation</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9</a:t>
            </a:fld>
            <a:endParaRPr lang="zh-CN" altLang="en-US">
              <a:solidFill>
                <a:schemeClr val="bg1"/>
              </a:solidFill>
              <a:latin typeface="Arial Regular" panose="020B0604020202090204" charset="0"/>
              <a:cs typeface="Arial Regular" panose="020B0604020202090204" charset="0"/>
            </a:endParaRPr>
          </a:p>
        </p:txBody>
      </p:sp>
      <p:pic>
        <p:nvPicPr>
          <p:cNvPr id="2" name="图片 1"/>
          <p:cNvPicPr>
            <a:picLocks noChangeAspect="1"/>
          </p:cNvPicPr>
          <p:nvPr/>
        </p:nvPicPr>
        <p:blipFill>
          <a:blip r:embed="rId3"/>
          <a:stretch>
            <a:fillRect/>
          </a:stretch>
        </p:blipFill>
        <p:spPr>
          <a:xfrm>
            <a:off x="2023745" y="2103755"/>
            <a:ext cx="4241800" cy="457200"/>
          </a:xfrm>
          <a:prstGeom prst="rect">
            <a:avLst/>
          </a:prstGeom>
        </p:spPr>
      </p:pic>
      <p:sp>
        <p:nvSpPr>
          <p:cNvPr id="11" name="文本框 10"/>
          <p:cNvSpPr txBox="1"/>
          <p:nvPr/>
        </p:nvSpPr>
        <p:spPr>
          <a:xfrm>
            <a:off x="434340" y="2103755"/>
            <a:ext cx="4086225" cy="1106170"/>
          </a:xfrm>
          <a:prstGeom prst="rect">
            <a:avLst/>
          </a:prstGeom>
          <a:noFill/>
        </p:spPr>
        <p:txBody>
          <a:bodyPr wrap="square" rtlCol="0">
            <a:noAutofit/>
          </a:bodyPr>
          <a:lstStyle/>
          <a:p>
            <a:pPr indent="0">
              <a:buNone/>
            </a:pPr>
            <a:r>
              <a:rPr lang="en-US" sz="2400" dirty="0">
                <a:latin typeface="Times New Roman Regular" panose="02020603050405020304" charset="0"/>
                <a:ea typeface="Calibri" panose="020F0502020204030204" charset="0"/>
                <a:cs typeface="Times New Roman Regular" panose="02020603050405020304" charset="0"/>
              </a:rPr>
              <a:t>Data Set</a:t>
            </a:r>
            <a:r>
              <a:rPr lang="en-US" altLang="zh-CN" sz="2400" dirty="0">
                <a:latin typeface="Times New Roman Regular" panose="02020603050405020304" charset="0"/>
                <a:ea typeface="Calibri" panose="020F0502020204030204" charset="0"/>
                <a:cs typeface="Times New Roman Regular" panose="02020603050405020304" charset="0"/>
              </a:rPr>
              <a:t>:</a:t>
            </a:r>
          </a:p>
          <a:p>
            <a:pPr indent="0">
              <a:buNone/>
            </a:pPr>
            <a:endParaRPr lang="en-US" altLang="zh-CN" sz="2400" dirty="0">
              <a:latin typeface="Times New Roman Regular" panose="02020603050405020304" charset="0"/>
              <a:ea typeface="Calibri" panose="020F0502020204030204" charset="0"/>
              <a:cs typeface="Times New Roman Regular" panose="02020603050405020304" charset="0"/>
            </a:endParaRPr>
          </a:p>
          <a:p>
            <a:pPr indent="0">
              <a:buNone/>
            </a:pPr>
            <a:r>
              <a:rPr lang="en-US" altLang="zh-CN" sz="2400" dirty="0">
                <a:latin typeface="Times New Roman Regular" panose="02020603050405020304" charset="0"/>
                <a:ea typeface="Calibri" panose="020F0502020204030204" charset="0"/>
                <a:cs typeface="Times New Roman Regular" panose="02020603050405020304" charset="0"/>
              </a:rPr>
              <a:t>The optimization objective:</a:t>
            </a:r>
          </a:p>
        </p:txBody>
      </p:sp>
      <p:pic>
        <p:nvPicPr>
          <p:cNvPr id="13" name="图片 12"/>
          <p:cNvPicPr>
            <a:picLocks noChangeAspect="1"/>
          </p:cNvPicPr>
          <p:nvPr/>
        </p:nvPicPr>
        <p:blipFill>
          <a:blip r:embed="rId4"/>
          <a:stretch>
            <a:fillRect/>
          </a:stretch>
        </p:blipFill>
        <p:spPr>
          <a:xfrm>
            <a:off x="4128135" y="2560955"/>
            <a:ext cx="2654300" cy="1066800"/>
          </a:xfrm>
          <a:prstGeom prst="rect">
            <a:avLst/>
          </a:prstGeom>
        </p:spPr>
      </p:pic>
      <p:pic>
        <p:nvPicPr>
          <p:cNvPr id="17" name="图片 16"/>
          <p:cNvPicPr>
            <a:picLocks noChangeAspect="1"/>
          </p:cNvPicPr>
          <p:nvPr/>
        </p:nvPicPr>
        <p:blipFill>
          <a:blip r:embed="rId5"/>
          <a:stretch>
            <a:fillRect/>
          </a:stretch>
        </p:blipFill>
        <p:spPr>
          <a:xfrm>
            <a:off x="3089275" y="3618230"/>
            <a:ext cx="4991100" cy="50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Vanilla Personalization</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10</a:t>
            </a:fld>
            <a:endParaRPr lang="zh-CN" altLang="en-US">
              <a:solidFill>
                <a:schemeClr val="bg1"/>
              </a:solidFill>
              <a:latin typeface="Arial Regular" panose="020B0604020202090204" charset="0"/>
              <a:cs typeface="Arial Regular" panose="020B0604020202090204" charset="0"/>
            </a:endParaRPr>
          </a:p>
        </p:txBody>
      </p:sp>
      <p:sp>
        <p:nvSpPr>
          <p:cNvPr id="11" name="文本框 10"/>
          <p:cNvSpPr txBox="1"/>
          <p:nvPr/>
        </p:nvSpPr>
        <p:spPr>
          <a:xfrm>
            <a:off x="434340" y="1727200"/>
            <a:ext cx="4086225" cy="2301240"/>
          </a:xfrm>
          <a:prstGeom prst="rect">
            <a:avLst/>
          </a:prstGeom>
          <a:noFill/>
        </p:spPr>
        <p:txBody>
          <a:bodyPr wrap="square" rtlCol="0">
            <a:noAutofit/>
          </a:bodyPr>
          <a:lstStyle/>
          <a:p>
            <a:pPr indent="0">
              <a:buNone/>
            </a:pPr>
            <a:r>
              <a:rPr lang="en-US" sz="2400" dirty="0">
                <a:latin typeface="Times New Roman Regular" panose="02020603050405020304" charset="0"/>
                <a:ea typeface="Calibri" panose="020F0502020204030204" charset="0"/>
                <a:cs typeface="Times New Roman Regular" panose="02020603050405020304" charset="0"/>
              </a:rPr>
              <a:t>Data Set</a:t>
            </a:r>
            <a:r>
              <a:rPr lang="en-US" altLang="zh-CN" sz="2400" dirty="0">
                <a:latin typeface="Times New Roman Regular" panose="02020603050405020304" charset="0"/>
                <a:ea typeface="Calibri" panose="020F0502020204030204" charset="0"/>
                <a:cs typeface="Times New Roman Regular" panose="02020603050405020304" charset="0"/>
              </a:rPr>
              <a:t>:</a:t>
            </a:r>
          </a:p>
          <a:p>
            <a:pPr indent="0">
              <a:buNone/>
            </a:pPr>
            <a:endParaRPr lang="en-US" altLang="zh-CN" sz="2400" dirty="0">
              <a:latin typeface="Times New Roman Regular" panose="02020603050405020304" charset="0"/>
              <a:ea typeface="Calibri" panose="020F0502020204030204" charset="0"/>
              <a:cs typeface="Times New Roman Regular" panose="02020603050405020304" charset="0"/>
            </a:endParaRPr>
          </a:p>
          <a:p>
            <a:pPr indent="0">
              <a:buNone/>
            </a:pPr>
            <a:r>
              <a:rPr lang="en-US" altLang="zh-CN" sz="2400" dirty="0">
                <a:latin typeface="Times New Roman Regular" panose="02020603050405020304" charset="0"/>
                <a:ea typeface="Calibri" panose="020F0502020204030204" charset="0"/>
                <a:cs typeface="Times New Roman Regular" panose="02020603050405020304" charset="0"/>
              </a:rPr>
              <a:t>Model aggregation:</a:t>
            </a:r>
          </a:p>
          <a:p>
            <a:pPr indent="0">
              <a:buNone/>
            </a:pPr>
            <a:endParaRPr lang="en-US" altLang="zh-CN" sz="2400" dirty="0">
              <a:latin typeface="Times New Roman Regular" panose="02020603050405020304" charset="0"/>
              <a:ea typeface="Calibri" panose="020F0502020204030204" charset="0"/>
              <a:cs typeface="Times New Roman Regular" panose="02020603050405020304" charset="0"/>
            </a:endParaRPr>
          </a:p>
          <a:p>
            <a:pPr indent="0">
              <a:buNone/>
            </a:pPr>
            <a:r>
              <a:rPr lang="en-US" altLang="zh-CN" sz="2400" dirty="0">
                <a:latin typeface="Times New Roman Regular" panose="02020603050405020304" charset="0"/>
                <a:ea typeface="Calibri" panose="020F0502020204030204" charset="0"/>
                <a:cs typeface="Times New Roman Regular" panose="02020603050405020304" charset="0"/>
                <a:sym typeface="+mn-ea"/>
              </a:rPr>
              <a:t>The optimization objective: </a:t>
            </a:r>
            <a:endParaRPr lang="en-US" altLang="zh-CN" sz="2400" dirty="0">
              <a:latin typeface="Times New Roman Regular" panose="02020603050405020304" charset="0"/>
              <a:ea typeface="Calibri" panose="020F0502020204030204" charset="0"/>
              <a:cs typeface="Times New Roman Regular" panose="02020603050405020304" charset="0"/>
            </a:endParaRPr>
          </a:p>
          <a:p>
            <a:pPr indent="0">
              <a:buNone/>
            </a:pPr>
            <a:endParaRPr lang="en-US" altLang="zh-CN" sz="2400" dirty="0">
              <a:latin typeface="Times New Roman Regular" panose="02020603050405020304" charset="0"/>
              <a:ea typeface="Calibri" panose="020F0502020204030204" charset="0"/>
              <a:cs typeface="Times New Roman Regular" panose="02020603050405020304" charset="0"/>
            </a:endParaRPr>
          </a:p>
        </p:txBody>
      </p:sp>
      <p:pic>
        <p:nvPicPr>
          <p:cNvPr id="4" name="图片 3"/>
          <p:cNvPicPr>
            <a:picLocks noChangeAspect="1"/>
          </p:cNvPicPr>
          <p:nvPr/>
        </p:nvPicPr>
        <p:blipFill>
          <a:blip r:embed="rId3"/>
          <a:stretch>
            <a:fillRect/>
          </a:stretch>
        </p:blipFill>
        <p:spPr>
          <a:xfrm>
            <a:off x="2108835" y="1816735"/>
            <a:ext cx="1524000" cy="393700"/>
          </a:xfrm>
          <a:prstGeom prst="rect">
            <a:avLst/>
          </a:prstGeom>
        </p:spPr>
      </p:pic>
      <p:pic>
        <p:nvPicPr>
          <p:cNvPr id="5" name="图片 4"/>
          <p:cNvPicPr>
            <a:picLocks noChangeAspect="1"/>
          </p:cNvPicPr>
          <p:nvPr/>
        </p:nvPicPr>
        <p:blipFill>
          <a:blip r:embed="rId4"/>
          <a:stretch>
            <a:fillRect/>
          </a:stretch>
        </p:blipFill>
        <p:spPr>
          <a:xfrm>
            <a:off x="3120390" y="2210435"/>
            <a:ext cx="1993900" cy="1066800"/>
          </a:xfrm>
          <a:prstGeom prst="rect">
            <a:avLst/>
          </a:prstGeom>
        </p:spPr>
      </p:pic>
      <p:pic>
        <p:nvPicPr>
          <p:cNvPr id="7" name="图片 6"/>
          <p:cNvPicPr>
            <a:picLocks noChangeAspect="1"/>
          </p:cNvPicPr>
          <p:nvPr/>
        </p:nvPicPr>
        <p:blipFill>
          <a:blip r:embed="rId5"/>
          <a:stretch>
            <a:fillRect/>
          </a:stretch>
        </p:blipFill>
        <p:spPr>
          <a:xfrm>
            <a:off x="4275455" y="3011805"/>
            <a:ext cx="2933700" cy="990600"/>
          </a:xfrm>
          <a:prstGeom prst="rect">
            <a:avLst/>
          </a:prstGeom>
        </p:spPr>
      </p:pic>
      <p:pic>
        <p:nvPicPr>
          <p:cNvPr id="8" name="图片 7"/>
          <p:cNvPicPr>
            <a:picLocks noChangeAspect="1"/>
          </p:cNvPicPr>
          <p:nvPr/>
        </p:nvPicPr>
        <p:blipFill>
          <a:blip r:embed="rId6"/>
          <a:stretch>
            <a:fillRect/>
          </a:stretch>
        </p:blipFill>
        <p:spPr>
          <a:xfrm>
            <a:off x="1222375" y="4028440"/>
            <a:ext cx="6413500" cy="965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fontScale="90000"/>
          </a:bodyPr>
          <a:lstStyle/>
          <a:p>
            <a:r>
              <a:rPr lang="en-US" sz="3600" b="1" dirty="0">
                <a:solidFill>
                  <a:schemeClr val="accent5">
                    <a:lumMod val="75000"/>
                  </a:schemeClr>
                </a:solidFill>
                <a:latin typeface="Times New Roman Bold" panose="02020603050405020304" charset="0"/>
                <a:cs typeface="Times New Roman Bold" panose="02020603050405020304" charset="0"/>
              </a:rPr>
              <a:t>Disadvantages of Vanilla Personalization</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11</a:t>
            </a:fld>
            <a:endParaRPr lang="zh-CN" altLang="en-US">
              <a:solidFill>
                <a:schemeClr val="bg1"/>
              </a:solidFill>
              <a:latin typeface="Arial Regular" panose="020B0604020202090204" charset="0"/>
              <a:cs typeface="Arial Regular" panose="020B0604020202090204" charset="0"/>
            </a:endParaRPr>
          </a:p>
        </p:txBody>
      </p:sp>
      <p:sp>
        <p:nvSpPr>
          <p:cNvPr id="11" name="文本框 10"/>
          <p:cNvSpPr txBox="1"/>
          <p:nvPr/>
        </p:nvSpPr>
        <p:spPr>
          <a:xfrm>
            <a:off x="434340" y="1727200"/>
            <a:ext cx="7938135" cy="2301240"/>
          </a:xfrm>
          <a:prstGeom prst="rect">
            <a:avLst/>
          </a:prstGeom>
          <a:noFill/>
        </p:spPr>
        <p:txBody>
          <a:bodyPr wrap="square" rtlCol="0">
            <a:noAutofit/>
          </a:bodyPr>
          <a:lstStyle/>
          <a:p>
            <a:pPr indent="0">
              <a:buNone/>
            </a:pPr>
            <a:r>
              <a:rPr lang="en-US" altLang="zh-CN" sz="2400" dirty="0">
                <a:latin typeface="Times New Roman Regular" panose="02020603050405020304" charset="0"/>
                <a:ea typeface="Calibri" panose="020F0502020204030204" charset="0"/>
                <a:cs typeface="Times New Roman Regular" panose="02020603050405020304" charset="0"/>
              </a:rPr>
              <a:t>1. It ignores the potential inherent relationships between clients.</a:t>
            </a:r>
          </a:p>
          <a:p>
            <a:pPr indent="0">
              <a:buNone/>
            </a:pPr>
            <a:endParaRPr lang="en-US" altLang="zh-CN" sz="2400" dirty="0">
              <a:latin typeface="Times New Roman Regular" panose="02020603050405020304" charset="0"/>
              <a:ea typeface="Calibri" panose="020F0502020204030204" charset="0"/>
              <a:cs typeface="Times New Roman Regular" panose="02020603050405020304" charset="0"/>
            </a:endParaRPr>
          </a:p>
          <a:p>
            <a:pPr indent="0">
              <a:buNone/>
            </a:pPr>
            <a:r>
              <a:rPr lang="en-US" altLang="zh-CN" sz="2400" dirty="0">
                <a:latin typeface="Times New Roman Regular" panose="02020603050405020304" charset="0"/>
                <a:ea typeface="Calibri" panose="020F0502020204030204" charset="0"/>
                <a:cs typeface="Times New Roman Regular" panose="02020603050405020304" charset="0"/>
              </a:rPr>
              <a:t>2. The personalized selfattention layers increase linearly with the growing client numbers.</a:t>
            </a:r>
          </a:p>
          <a:p>
            <a:pPr indent="0">
              <a:buNone/>
            </a:pPr>
            <a:endParaRPr lang="en-US" altLang="zh-CN" sz="2400" dirty="0">
              <a:latin typeface="Times New Roman Regular" panose="02020603050405020304" charset="0"/>
              <a:ea typeface="Calibri" panose="020F0502020204030204" charset="0"/>
              <a:cs typeface="Times New Roman Regular" panose="02020603050405020304" charset="0"/>
            </a:endParaRPr>
          </a:p>
          <a:p>
            <a:pPr indent="0">
              <a:buNone/>
            </a:pPr>
            <a:r>
              <a:rPr lang="en-US" altLang="zh-CN" sz="2400" dirty="0">
                <a:latin typeface="Times New Roman Regular" panose="02020603050405020304" charset="0"/>
                <a:ea typeface="Calibri" panose="020F0502020204030204" charset="0"/>
                <a:cs typeface="Times New Roman Regular" panose="02020603050405020304" charset="0"/>
              </a:rPr>
              <a:t>3. The generalization of personalized self-attention is not good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altLang="zh-CN" sz="3600" b="1" dirty="0" err="1">
                <a:solidFill>
                  <a:schemeClr val="accent5">
                    <a:lumMod val="75000"/>
                  </a:schemeClr>
                </a:solidFill>
                <a:latin typeface="Times New Roman Bold" panose="02020603050405020304" charset="0"/>
                <a:cs typeface="Times New Roman Bold" panose="02020603050405020304" charset="0"/>
              </a:rPr>
              <a:t>FedTP</a:t>
            </a:r>
            <a:r>
              <a:rPr lang="en-US" sz="3600" b="1" dirty="0">
                <a:solidFill>
                  <a:schemeClr val="accent5">
                    <a:lumMod val="75000"/>
                  </a:schemeClr>
                </a:solidFill>
                <a:latin typeface="Times New Roman Bold" panose="02020603050405020304" charset="0"/>
                <a:cs typeface="Times New Roman Bold" panose="02020603050405020304" charset="0"/>
              </a:rPr>
              <a:t> Overview</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12</a:t>
            </a:fld>
            <a:endParaRPr lang="zh-CN" altLang="en-US">
              <a:solidFill>
                <a:schemeClr val="bg1"/>
              </a:solidFill>
              <a:latin typeface="Arial Regular" panose="020B0604020202090204" charset="0"/>
              <a:cs typeface="Arial Regular" panose="020B0604020202090204" charset="0"/>
            </a:endParaRPr>
          </a:p>
        </p:txBody>
      </p:sp>
      <p:pic>
        <p:nvPicPr>
          <p:cNvPr id="2" name="图片 1"/>
          <p:cNvPicPr>
            <a:picLocks noChangeAspect="1"/>
          </p:cNvPicPr>
          <p:nvPr/>
        </p:nvPicPr>
        <p:blipFill>
          <a:blip r:embed="rId3"/>
          <a:stretch>
            <a:fillRect/>
          </a:stretch>
        </p:blipFill>
        <p:spPr>
          <a:xfrm>
            <a:off x="12065" y="1600200"/>
            <a:ext cx="9144000" cy="42456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FedTP</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13</a:t>
            </a:fld>
            <a:endParaRPr lang="zh-CN" altLang="en-US">
              <a:solidFill>
                <a:schemeClr val="bg1"/>
              </a:solidFill>
              <a:latin typeface="Arial Regular" panose="020B0604020202090204" charset="0"/>
              <a:cs typeface="Arial Regular" panose="020B0604020202090204" charset="0"/>
            </a:endParaRPr>
          </a:p>
        </p:txBody>
      </p:sp>
      <p:sp>
        <p:nvSpPr>
          <p:cNvPr id="11" name="文本框 10"/>
          <p:cNvSpPr txBox="1"/>
          <p:nvPr/>
        </p:nvSpPr>
        <p:spPr>
          <a:xfrm>
            <a:off x="434340" y="1727200"/>
            <a:ext cx="4086225" cy="2301240"/>
          </a:xfrm>
          <a:prstGeom prst="rect">
            <a:avLst/>
          </a:prstGeom>
          <a:noFill/>
        </p:spPr>
        <p:txBody>
          <a:bodyPr wrap="square" rtlCol="0">
            <a:noAutofit/>
          </a:bodyPr>
          <a:lstStyle/>
          <a:p>
            <a:pPr indent="0">
              <a:buNone/>
            </a:pPr>
            <a:r>
              <a:rPr lang="en-US" sz="2400" dirty="0">
                <a:latin typeface="Times New Roman Regular" panose="02020603050405020304" charset="0"/>
                <a:ea typeface="Calibri" panose="020F0502020204030204" charset="0"/>
                <a:cs typeface="Times New Roman Regular" panose="02020603050405020304" charset="0"/>
              </a:rPr>
              <a:t>Data Set</a:t>
            </a:r>
            <a:r>
              <a:rPr lang="en-US" altLang="zh-CN" sz="2400" dirty="0">
                <a:latin typeface="Times New Roman Regular" panose="02020603050405020304" charset="0"/>
                <a:ea typeface="Calibri" panose="020F0502020204030204" charset="0"/>
                <a:cs typeface="Times New Roman Regular" panose="02020603050405020304" charset="0"/>
              </a:rPr>
              <a:t>:</a:t>
            </a:r>
          </a:p>
          <a:p>
            <a:pPr indent="0">
              <a:buNone/>
            </a:pPr>
            <a:endParaRPr lang="en-US" altLang="zh-CN" sz="2400" dirty="0">
              <a:latin typeface="Times New Roman Regular" panose="02020603050405020304" charset="0"/>
              <a:ea typeface="Calibri" panose="020F0502020204030204" charset="0"/>
              <a:cs typeface="Times New Roman Regular" panose="02020603050405020304" charset="0"/>
            </a:endParaRPr>
          </a:p>
          <a:p>
            <a:pPr indent="0">
              <a:buNone/>
            </a:pPr>
            <a:r>
              <a:rPr lang="en-US" altLang="zh-CN" sz="2400" dirty="0">
                <a:latin typeface="Times New Roman Regular" panose="02020603050405020304" charset="0"/>
                <a:ea typeface="Calibri" panose="020F0502020204030204" charset="0"/>
                <a:cs typeface="Times New Roman Regular" panose="02020603050405020304" charset="0"/>
              </a:rPr>
              <a:t>Self-attention layer:</a:t>
            </a:r>
          </a:p>
          <a:p>
            <a:pPr indent="0">
              <a:buNone/>
            </a:pPr>
            <a:endParaRPr lang="en-US" altLang="zh-CN" sz="2400" dirty="0">
              <a:latin typeface="Times New Roman Regular" panose="02020603050405020304" charset="0"/>
              <a:ea typeface="Calibri" panose="020F0502020204030204" charset="0"/>
              <a:cs typeface="Times New Roman Regular" panose="02020603050405020304" charset="0"/>
            </a:endParaRPr>
          </a:p>
          <a:p>
            <a:pPr indent="0">
              <a:buNone/>
            </a:pPr>
            <a:r>
              <a:rPr lang="en-US" altLang="zh-CN" sz="2400" dirty="0">
                <a:latin typeface="Times New Roman Regular" panose="02020603050405020304" charset="0"/>
                <a:ea typeface="Calibri" panose="020F0502020204030204" charset="0"/>
                <a:cs typeface="Times New Roman Regular" panose="02020603050405020304" charset="0"/>
              </a:rPr>
              <a:t>Model aggregation:</a:t>
            </a:r>
          </a:p>
          <a:p>
            <a:pPr indent="0">
              <a:buNone/>
            </a:pPr>
            <a:endParaRPr lang="en-US" altLang="zh-CN" sz="2400" dirty="0">
              <a:latin typeface="Times New Roman Regular" panose="02020603050405020304" charset="0"/>
              <a:ea typeface="Calibri" panose="020F0502020204030204" charset="0"/>
              <a:cs typeface="Times New Roman Regular" panose="02020603050405020304" charset="0"/>
            </a:endParaRPr>
          </a:p>
          <a:p>
            <a:pPr indent="0">
              <a:buNone/>
            </a:pPr>
            <a:r>
              <a:rPr lang="en-US" altLang="zh-CN" sz="2400" dirty="0">
                <a:latin typeface="Times New Roman Regular" panose="02020603050405020304" charset="0"/>
                <a:ea typeface="Calibri" panose="020F0502020204030204" charset="0"/>
                <a:cs typeface="Times New Roman Regular" panose="02020603050405020304" charset="0"/>
                <a:sym typeface="+mn-ea"/>
              </a:rPr>
              <a:t>The optimization objective: </a:t>
            </a:r>
            <a:endParaRPr lang="en-US" altLang="zh-CN" sz="2400" dirty="0">
              <a:latin typeface="Times New Roman Regular" panose="02020603050405020304" charset="0"/>
              <a:ea typeface="Calibri" panose="020F0502020204030204" charset="0"/>
              <a:cs typeface="Times New Roman Regular" panose="02020603050405020304" charset="0"/>
            </a:endParaRPr>
          </a:p>
          <a:p>
            <a:pPr indent="0">
              <a:buNone/>
            </a:pPr>
            <a:endParaRPr lang="en-US" altLang="zh-CN" sz="2400" dirty="0">
              <a:latin typeface="Times New Roman Regular" panose="02020603050405020304" charset="0"/>
              <a:ea typeface="Calibri" panose="020F0502020204030204" charset="0"/>
              <a:cs typeface="Times New Roman Regular" panose="02020603050405020304" charset="0"/>
            </a:endParaRPr>
          </a:p>
        </p:txBody>
      </p:sp>
      <p:pic>
        <p:nvPicPr>
          <p:cNvPr id="4" name="图片 3"/>
          <p:cNvPicPr>
            <a:picLocks noChangeAspect="1"/>
          </p:cNvPicPr>
          <p:nvPr/>
        </p:nvPicPr>
        <p:blipFill>
          <a:blip r:embed="rId3"/>
          <a:stretch>
            <a:fillRect/>
          </a:stretch>
        </p:blipFill>
        <p:spPr>
          <a:xfrm>
            <a:off x="2108835" y="1816735"/>
            <a:ext cx="1524000" cy="393700"/>
          </a:xfrm>
          <a:prstGeom prst="rect">
            <a:avLst/>
          </a:prstGeom>
        </p:spPr>
      </p:pic>
      <p:pic>
        <p:nvPicPr>
          <p:cNvPr id="5" name="图片 4"/>
          <p:cNvPicPr>
            <a:picLocks noChangeAspect="1"/>
          </p:cNvPicPr>
          <p:nvPr/>
        </p:nvPicPr>
        <p:blipFill>
          <a:blip r:embed="rId4"/>
          <a:stretch>
            <a:fillRect/>
          </a:stretch>
        </p:blipFill>
        <p:spPr>
          <a:xfrm>
            <a:off x="3315335" y="2958465"/>
            <a:ext cx="1993900" cy="1066800"/>
          </a:xfrm>
          <a:prstGeom prst="rect">
            <a:avLst/>
          </a:prstGeom>
        </p:spPr>
      </p:pic>
      <p:pic>
        <p:nvPicPr>
          <p:cNvPr id="2" name="图片 1"/>
          <p:cNvPicPr>
            <a:picLocks noChangeAspect="1"/>
          </p:cNvPicPr>
          <p:nvPr/>
        </p:nvPicPr>
        <p:blipFill>
          <a:blip r:embed="rId5"/>
          <a:stretch>
            <a:fillRect/>
          </a:stretch>
        </p:blipFill>
        <p:spPr>
          <a:xfrm>
            <a:off x="3117850" y="2556510"/>
            <a:ext cx="1689100" cy="406400"/>
          </a:xfrm>
          <a:prstGeom prst="rect">
            <a:avLst/>
          </a:prstGeom>
        </p:spPr>
      </p:pic>
      <p:pic>
        <p:nvPicPr>
          <p:cNvPr id="3" name="图片 2"/>
          <p:cNvPicPr>
            <a:picLocks noChangeAspect="1"/>
          </p:cNvPicPr>
          <p:nvPr/>
        </p:nvPicPr>
        <p:blipFill>
          <a:blip r:embed="rId6"/>
          <a:stretch>
            <a:fillRect/>
          </a:stretch>
        </p:blipFill>
        <p:spPr>
          <a:xfrm>
            <a:off x="1605915" y="4364355"/>
            <a:ext cx="5930900" cy="1384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FedTP</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14</a:t>
            </a:fld>
            <a:endParaRPr lang="zh-CN" altLang="en-US">
              <a:solidFill>
                <a:schemeClr val="bg1"/>
              </a:solidFill>
              <a:latin typeface="Arial Regular" panose="020B0604020202090204" charset="0"/>
              <a:cs typeface="Arial Regular" panose="020B0604020202090204" charset="0"/>
            </a:endParaRPr>
          </a:p>
        </p:txBody>
      </p:sp>
      <p:pic>
        <p:nvPicPr>
          <p:cNvPr id="7" name="图片 6"/>
          <p:cNvPicPr>
            <a:picLocks noChangeAspect="1"/>
          </p:cNvPicPr>
          <p:nvPr/>
        </p:nvPicPr>
        <p:blipFill>
          <a:blip r:embed="rId3"/>
          <a:stretch>
            <a:fillRect/>
          </a:stretch>
        </p:blipFill>
        <p:spPr>
          <a:xfrm>
            <a:off x="2686050" y="948690"/>
            <a:ext cx="4876165" cy="55613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FedTP</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15</a:t>
            </a:fld>
            <a:endParaRPr lang="zh-CN" altLang="en-US">
              <a:solidFill>
                <a:schemeClr val="bg1"/>
              </a:solidFill>
              <a:latin typeface="Arial Regular" panose="020B0604020202090204" charset="0"/>
              <a:cs typeface="Arial Regular" panose="020B0604020202090204" charset="0"/>
            </a:endParaRPr>
          </a:p>
        </p:txBody>
      </p:sp>
      <p:pic>
        <p:nvPicPr>
          <p:cNvPr id="2" name="图片 1"/>
          <p:cNvPicPr>
            <a:picLocks noChangeAspect="1"/>
          </p:cNvPicPr>
          <p:nvPr/>
        </p:nvPicPr>
        <p:blipFill>
          <a:blip r:embed="rId3"/>
          <a:stretch>
            <a:fillRect/>
          </a:stretch>
        </p:blipFill>
        <p:spPr>
          <a:xfrm>
            <a:off x="2730500" y="2048510"/>
            <a:ext cx="3683000" cy="1803400"/>
          </a:xfrm>
          <a:prstGeom prst="rect">
            <a:avLst/>
          </a:prstGeom>
        </p:spPr>
      </p:pic>
      <p:pic>
        <p:nvPicPr>
          <p:cNvPr id="3" name="图片 2"/>
          <p:cNvPicPr>
            <a:picLocks noChangeAspect="1"/>
          </p:cNvPicPr>
          <p:nvPr/>
        </p:nvPicPr>
        <p:blipFill>
          <a:blip r:embed="rId4"/>
          <a:stretch>
            <a:fillRect/>
          </a:stretch>
        </p:blipFill>
        <p:spPr>
          <a:xfrm>
            <a:off x="2730500" y="4491355"/>
            <a:ext cx="2895600" cy="1168400"/>
          </a:xfrm>
          <a:prstGeom prst="rect">
            <a:avLst/>
          </a:prstGeom>
        </p:spPr>
      </p:pic>
      <p:pic>
        <p:nvPicPr>
          <p:cNvPr id="4" name="图片 3"/>
          <p:cNvPicPr>
            <a:picLocks noChangeAspect="1"/>
          </p:cNvPicPr>
          <p:nvPr/>
        </p:nvPicPr>
        <p:blipFill>
          <a:blip r:embed="rId5"/>
          <a:stretch>
            <a:fillRect/>
          </a:stretch>
        </p:blipFill>
        <p:spPr>
          <a:xfrm>
            <a:off x="2860675" y="1404620"/>
            <a:ext cx="1955800" cy="3937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Generalization Bound</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16</a:t>
            </a:fld>
            <a:endParaRPr lang="zh-CN" altLang="en-US">
              <a:solidFill>
                <a:schemeClr val="bg1"/>
              </a:solidFill>
              <a:latin typeface="Arial Regular" panose="020B0604020202090204" charset="0"/>
              <a:cs typeface="Arial Regular" panose="020B0604020202090204" charset="0"/>
            </a:endParaRPr>
          </a:p>
        </p:txBody>
      </p:sp>
      <p:pic>
        <p:nvPicPr>
          <p:cNvPr id="2" name="图片 1"/>
          <p:cNvPicPr>
            <a:picLocks noChangeAspect="1"/>
          </p:cNvPicPr>
          <p:nvPr/>
        </p:nvPicPr>
        <p:blipFill>
          <a:blip r:embed="rId3"/>
          <a:stretch>
            <a:fillRect/>
          </a:stretch>
        </p:blipFill>
        <p:spPr>
          <a:xfrm>
            <a:off x="1343025" y="918845"/>
            <a:ext cx="6172200" cy="55327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Generalization Bound</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17</a:t>
            </a:fld>
            <a:endParaRPr lang="zh-CN" altLang="en-US">
              <a:solidFill>
                <a:schemeClr val="bg1"/>
              </a:solidFill>
              <a:latin typeface="Arial Regular" panose="020B0604020202090204" charset="0"/>
              <a:cs typeface="Arial Regular" panose="020B0604020202090204" charset="0"/>
            </a:endParaRPr>
          </a:p>
        </p:txBody>
      </p:sp>
      <p:pic>
        <p:nvPicPr>
          <p:cNvPr id="3" name="图片 2"/>
          <p:cNvPicPr>
            <a:picLocks noChangeAspect="1"/>
          </p:cNvPicPr>
          <p:nvPr/>
        </p:nvPicPr>
        <p:blipFill>
          <a:blip r:embed="rId3"/>
          <a:stretch>
            <a:fillRect/>
          </a:stretch>
        </p:blipFill>
        <p:spPr>
          <a:xfrm>
            <a:off x="1193800" y="1473200"/>
            <a:ext cx="6756400" cy="3911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Experiment Settings</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18</a:t>
            </a:fld>
            <a:endParaRPr lang="zh-CN" altLang="en-US">
              <a:solidFill>
                <a:schemeClr val="bg1"/>
              </a:solidFill>
              <a:latin typeface="Arial Regular" panose="020B0604020202090204" charset="0"/>
              <a:cs typeface="Arial Regular" panose="020B0604020202090204" charset="0"/>
            </a:endParaRPr>
          </a:p>
        </p:txBody>
      </p:sp>
      <p:pic>
        <p:nvPicPr>
          <p:cNvPr id="7" name="图片 6"/>
          <p:cNvPicPr>
            <a:picLocks noChangeAspect="1"/>
          </p:cNvPicPr>
          <p:nvPr/>
        </p:nvPicPr>
        <p:blipFill>
          <a:blip r:embed="rId3"/>
          <a:stretch>
            <a:fillRect/>
          </a:stretch>
        </p:blipFill>
        <p:spPr>
          <a:xfrm>
            <a:off x="1003300" y="1950720"/>
            <a:ext cx="7137400" cy="19431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628650" y="781685"/>
            <a:ext cx="8274050" cy="2696210"/>
          </a:xfrm>
          <a:prstGeom prst="rect">
            <a:avLst/>
          </a:prstGeom>
        </p:spPr>
      </p:pic>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Experiments</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19</a:t>
            </a:fld>
            <a:endParaRPr lang="zh-CN" altLang="en-US">
              <a:solidFill>
                <a:schemeClr val="bg1"/>
              </a:solidFill>
              <a:latin typeface="Arial Regular" panose="020B0604020202090204" charset="0"/>
              <a:cs typeface="Arial Regular" panose="020B060402020209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Experiments</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20</a:t>
            </a:fld>
            <a:endParaRPr lang="zh-CN" altLang="en-US">
              <a:solidFill>
                <a:schemeClr val="bg1"/>
              </a:solidFill>
              <a:latin typeface="Arial Regular" panose="020B0604020202090204" charset="0"/>
              <a:cs typeface="Arial Regular" panose="020B0604020202090204" charset="0"/>
            </a:endParaRPr>
          </a:p>
        </p:txBody>
      </p:sp>
      <p:pic>
        <p:nvPicPr>
          <p:cNvPr id="3" name="图片 2"/>
          <p:cNvPicPr>
            <a:picLocks noChangeAspect="1"/>
          </p:cNvPicPr>
          <p:nvPr/>
        </p:nvPicPr>
        <p:blipFill>
          <a:blip r:embed="rId3"/>
          <a:stretch>
            <a:fillRect/>
          </a:stretch>
        </p:blipFill>
        <p:spPr>
          <a:xfrm>
            <a:off x="-24765" y="2719705"/>
            <a:ext cx="9168130" cy="3634105"/>
          </a:xfrm>
          <a:prstGeom prst="rect">
            <a:avLst/>
          </a:prstGeom>
        </p:spPr>
      </p:pic>
      <p:pic>
        <p:nvPicPr>
          <p:cNvPr id="2" name="图片 1"/>
          <p:cNvPicPr>
            <a:picLocks noChangeAspect="1"/>
          </p:cNvPicPr>
          <p:nvPr/>
        </p:nvPicPr>
        <p:blipFill>
          <a:blip r:embed="rId4"/>
          <a:stretch>
            <a:fillRect/>
          </a:stretch>
        </p:blipFill>
        <p:spPr>
          <a:xfrm>
            <a:off x="1866900" y="1012190"/>
            <a:ext cx="5410200" cy="16129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Experiments</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21</a:t>
            </a:fld>
            <a:endParaRPr lang="zh-CN" altLang="en-US">
              <a:solidFill>
                <a:schemeClr val="bg1"/>
              </a:solidFill>
              <a:latin typeface="Arial Regular" panose="020B0604020202090204" charset="0"/>
              <a:cs typeface="Arial Regular" panose="020B0604020202090204" charset="0"/>
            </a:endParaRPr>
          </a:p>
        </p:txBody>
      </p:sp>
      <p:pic>
        <p:nvPicPr>
          <p:cNvPr id="3" name="图片 2"/>
          <p:cNvPicPr>
            <a:picLocks noChangeAspect="1"/>
          </p:cNvPicPr>
          <p:nvPr/>
        </p:nvPicPr>
        <p:blipFill>
          <a:blip r:embed="rId3"/>
          <a:stretch>
            <a:fillRect/>
          </a:stretch>
        </p:blipFill>
        <p:spPr>
          <a:xfrm>
            <a:off x="0" y="1296035"/>
            <a:ext cx="9144000" cy="426593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85775" y="258445"/>
            <a:ext cx="7886700" cy="896620"/>
          </a:xfrm>
        </p:spPr>
        <p:txBody>
          <a:bodyPr>
            <a:norm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Experiments</a:t>
            </a:r>
          </a:p>
        </p:txBody>
      </p:sp>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a:solidFill>
                  <a:schemeClr val="bg1"/>
                </a:solidFill>
                <a:latin typeface="Arial Regular" panose="020B0604020202090204" charset="0"/>
                <a:cs typeface="Arial Regular" panose="020B0604020202090204" charset="0"/>
              </a:rPr>
              <a:t>Geng Tian</a:t>
            </a:r>
            <a:r>
              <a:rPr lang="zh-CN" altLang="en-US">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22</a:t>
            </a:fld>
            <a:endParaRPr lang="zh-CN" altLang="en-US">
              <a:solidFill>
                <a:schemeClr val="bg1"/>
              </a:solidFill>
              <a:latin typeface="Arial Regular" panose="020B0604020202090204" charset="0"/>
              <a:cs typeface="Arial Regular" panose="020B0604020202090204" charset="0"/>
            </a:endParaRPr>
          </a:p>
        </p:txBody>
      </p:sp>
      <p:pic>
        <p:nvPicPr>
          <p:cNvPr id="2" name="图片 1"/>
          <p:cNvPicPr>
            <a:picLocks noChangeAspect="1"/>
          </p:cNvPicPr>
          <p:nvPr/>
        </p:nvPicPr>
        <p:blipFill>
          <a:blip r:embed="rId3"/>
          <a:stretch>
            <a:fillRect/>
          </a:stretch>
        </p:blipFill>
        <p:spPr>
          <a:xfrm>
            <a:off x="2110740" y="1510665"/>
            <a:ext cx="5441315" cy="414528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s 11"/>
          <p:cNvSpPr/>
          <p:nvPr/>
        </p:nvSpPr>
        <p:spPr>
          <a:xfrm>
            <a:off x="-12700" y="6553835"/>
            <a:ext cx="9168765" cy="304165"/>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p:cNvSpPr>
            <a:spLocks noGrp="1"/>
          </p:cNvSpPr>
          <p:nvPr>
            <p:ph type="dt" sz="half" idx="10"/>
          </p:nvPr>
        </p:nvSpPr>
        <p:spPr>
          <a:xfrm>
            <a:off x="628650" y="6510020"/>
            <a:ext cx="2057400" cy="365125"/>
          </a:xfrm>
        </p:spPr>
        <p:txBody>
          <a:bodyPr/>
          <a:lstStyle/>
          <a:p>
            <a:r>
              <a:rPr lang="en-US" altLang="zh-CN" dirty="0" err="1">
                <a:solidFill>
                  <a:schemeClr val="bg1"/>
                </a:solidFill>
                <a:latin typeface="Arial Regular" panose="020B0604020202090204" charset="0"/>
                <a:cs typeface="Arial Regular" panose="020B0604020202090204" charset="0"/>
              </a:rPr>
              <a:t>Geng</a:t>
            </a:r>
            <a:r>
              <a:rPr lang="en-US" altLang="zh-CN" dirty="0">
                <a:solidFill>
                  <a:schemeClr val="bg1"/>
                </a:solidFill>
                <a:latin typeface="Arial Regular" panose="020B0604020202090204" charset="0"/>
                <a:cs typeface="Arial Regular" panose="020B0604020202090204" charset="0"/>
              </a:rPr>
              <a:t> Tian</a:t>
            </a:r>
            <a:r>
              <a:rPr lang="zh-CN" altLang="en-US" dirty="0">
                <a:solidFill>
                  <a:schemeClr val="bg1"/>
                </a:solidFill>
                <a:latin typeface="Arial Regular" panose="020B0604020202090204" charset="0"/>
                <a:cs typeface="Arial Regular" panose="020B0604020202090204" charset="0"/>
              </a:rPr>
              <a:t> @ SUSTech</a:t>
            </a:r>
          </a:p>
        </p:txBody>
      </p:sp>
      <p:sp>
        <p:nvSpPr>
          <p:cNvPr id="10" name="Slide Number Placeholder 9"/>
          <p:cNvSpPr>
            <a:spLocks noGrp="1"/>
          </p:cNvSpPr>
          <p:nvPr>
            <p:ph type="sldNum" sz="quarter" idx="12"/>
          </p:nvPr>
        </p:nvSpPr>
        <p:spPr>
          <a:xfrm>
            <a:off x="6457950" y="6510020"/>
            <a:ext cx="2057400" cy="365125"/>
          </a:xfrm>
        </p:spPr>
        <p:txBody>
          <a:bodyPr/>
          <a:lstStyle/>
          <a:p>
            <a:fld id="{49AE70B2-8BF9-45C0-BB95-33D1B9D3A854}" type="slidenum">
              <a:rPr lang="zh-CN" altLang="en-US" smtClean="0">
                <a:solidFill>
                  <a:schemeClr val="bg1"/>
                </a:solidFill>
                <a:latin typeface="Arial Regular" panose="020B0604020202090204" charset="0"/>
                <a:cs typeface="Arial Regular" panose="020B0604020202090204" charset="0"/>
              </a:rPr>
              <a:t>23</a:t>
            </a:fld>
            <a:endParaRPr lang="zh-CN" altLang="en-US">
              <a:solidFill>
                <a:schemeClr val="bg1"/>
              </a:solidFill>
              <a:latin typeface="Arial Regular" panose="020B0604020202090204" charset="0"/>
              <a:cs typeface="Arial Regular" panose="020B0604020202090204" charset="0"/>
            </a:endParaRPr>
          </a:p>
        </p:txBody>
      </p:sp>
      <p:sp>
        <p:nvSpPr>
          <p:cNvPr id="7" name="Title 6"/>
          <p:cNvSpPr>
            <a:spLocks noGrp="1"/>
          </p:cNvSpPr>
          <p:nvPr>
            <p:ph type="title"/>
          </p:nvPr>
        </p:nvSpPr>
        <p:spPr>
          <a:xfrm>
            <a:off x="955848" y="2180705"/>
            <a:ext cx="8548370" cy="896620"/>
          </a:xfrm>
        </p:spPr>
        <p:txBody>
          <a:bodyPr>
            <a:noAutofit/>
          </a:bodyPr>
          <a:lstStyle/>
          <a:p>
            <a:r>
              <a:rPr lang="en-US" sz="3600" b="1" dirty="0">
                <a:solidFill>
                  <a:schemeClr val="accent5">
                    <a:lumMod val="75000"/>
                  </a:schemeClr>
                </a:solidFill>
                <a:latin typeface="Times New Roman Bold" panose="02020603050405020304" charset="0"/>
                <a:cs typeface="Times New Roman Bold" panose="02020603050405020304" charset="0"/>
              </a:rPr>
              <a:t>Thank You</a:t>
            </a:r>
            <a:r>
              <a:rPr lang="en-US" altLang="zh-CN" sz="3600" b="1" dirty="0">
                <a:solidFill>
                  <a:schemeClr val="accent5">
                    <a:lumMod val="75000"/>
                  </a:schemeClr>
                </a:solidFill>
                <a:latin typeface="Times New Roman Bold" panose="02020603050405020304" charset="0"/>
                <a:cs typeface="Times New Roman Bold" panose="02020603050405020304" charset="0"/>
              </a:rPr>
              <a:t>!</a:t>
            </a:r>
            <a:r>
              <a:rPr lang="zh-CN" altLang="en-US" sz="3600" b="1" dirty="0">
                <a:solidFill>
                  <a:schemeClr val="accent5">
                    <a:lumMod val="75000"/>
                  </a:schemeClr>
                </a:solidFill>
                <a:latin typeface="Times New Roman Bold" panose="02020603050405020304" charset="0"/>
                <a:cs typeface="Times New Roman Bold" panose="02020603050405020304" charset="0"/>
              </a:rPr>
              <a:t> </a:t>
            </a:r>
            <a:br>
              <a:rPr lang="en-US" altLang="zh-CN" sz="3600" b="1" dirty="0">
                <a:solidFill>
                  <a:schemeClr val="accent5">
                    <a:lumMod val="75000"/>
                  </a:schemeClr>
                </a:solidFill>
                <a:latin typeface="Times New Roman Bold" panose="02020603050405020304" charset="0"/>
                <a:cs typeface="Times New Roman Bold" panose="02020603050405020304" charset="0"/>
              </a:rPr>
            </a:br>
            <a:r>
              <a:rPr lang="en-US" altLang="zh-CN" sz="3600" b="1" dirty="0">
                <a:solidFill>
                  <a:schemeClr val="accent5">
                    <a:lumMod val="75000"/>
                  </a:schemeClr>
                </a:solidFill>
                <a:latin typeface="Times New Roman Bold" panose="02020603050405020304" charset="0"/>
                <a:cs typeface="Times New Roman Bold" panose="02020603050405020304" charset="0"/>
              </a:rPr>
              <a:t>Questions</a:t>
            </a:r>
            <a:r>
              <a:rPr lang="zh-CN" altLang="en-US" sz="3600" b="1" dirty="0">
                <a:solidFill>
                  <a:schemeClr val="accent5">
                    <a:lumMod val="75000"/>
                  </a:schemeClr>
                </a:solidFill>
                <a:latin typeface="Times New Roman Bold" panose="02020603050405020304" charset="0"/>
                <a:cs typeface="Times New Roman Bold" panose="02020603050405020304" charset="0"/>
              </a:rPr>
              <a:t> </a:t>
            </a:r>
            <a:r>
              <a:rPr lang="en-US" altLang="zh-CN" sz="3600" b="1" dirty="0">
                <a:solidFill>
                  <a:schemeClr val="accent5">
                    <a:lumMod val="75000"/>
                  </a:schemeClr>
                </a:solidFill>
                <a:latin typeface="Times New Roman Bold" panose="02020603050405020304" charset="0"/>
                <a:cs typeface="Times New Roman Bold" panose="02020603050405020304" charset="0"/>
              </a:rPr>
              <a:t>are</a:t>
            </a:r>
            <a:r>
              <a:rPr lang="zh-CN" altLang="en-US" sz="3600" b="1" dirty="0">
                <a:solidFill>
                  <a:schemeClr val="accent5">
                    <a:lumMod val="75000"/>
                  </a:schemeClr>
                </a:solidFill>
                <a:latin typeface="Times New Roman Bold" panose="02020603050405020304" charset="0"/>
                <a:cs typeface="Times New Roman Bold" panose="02020603050405020304" charset="0"/>
              </a:rPr>
              <a:t> </a:t>
            </a:r>
            <a:r>
              <a:rPr lang="en-US" altLang="zh-CN" sz="3600" b="1" dirty="0">
                <a:solidFill>
                  <a:schemeClr val="accent5">
                    <a:lumMod val="75000"/>
                  </a:schemeClr>
                </a:solidFill>
                <a:latin typeface="Times New Roman Bold" panose="02020603050405020304" charset="0"/>
                <a:cs typeface="Times New Roman Bold" panose="02020603050405020304" charset="0"/>
              </a:rPr>
              <a:t>welcome!</a:t>
            </a:r>
            <a:endParaRPr lang="en-US" sz="3600" b="1" dirty="0">
              <a:solidFill>
                <a:schemeClr val="accent5">
                  <a:lumMod val="75000"/>
                </a:schemeClr>
              </a:solidFill>
              <a:latin typeface="Times New Roman Bold" panose="02020603050405020304" charset="0"/>
              <a:cs typeface="Times New Roman Bold" panose="02020603050405020304" charset="0"/>
            </a:endParaRPr>
          </a:p>
        </p:txBody>
      </p:sp>
      <p:sp>
        <p:nvSpPr>
          <p:cNvPr id="2" name="Title 6"/>
          <p:cNvSpPr txBox="1"/>
          <p:nvPr/>
        </p:nvSpPr>
        <p:spPr>
          <a:xfrm>
            <a:off x="2426223" y="4326543"/>
            <a:ext cx="5829300" cy="896620"/>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b="0" kern="1200">
                <a:solidFill>
                  <a:schemeClr val="tx1">
                    <a:lumMod val="85000"/>
                    <a:lumOff val="15000"/>
                  </a:schemeClr>
                </a:solidFill>
                <a:effectLst/>
                <a:latin typeface="+mj-lt"/>
                <a:ea typeface="+mj-ea"/>
                <a:cs typeface="+mj-cs"/>
              </a:defRPr>
            </a:lvl1pPr>
          </a:lstStyle>
          <a:p>
            <a:pPr algn="r"/>
            <a:r>
              <a:rPr lang="en-US" altLang="zh-CN" sz="2000" dirty="0">
                <a:solidFill>
                  <a:schemeClr val="tx1"/>
                </a:solidFill>
                <a:latin typeface="Times New Roman Bold" panose="02020603050405020304" charset="0"/>
                <a:cs typeface="Times New Roman Bold" panose="02020603050405020304" charset="0"/>
              </a:rPr>
              <a:t>For</a:t>
            </a:r>
            <a:r>
              <a:rPr lang="zh-CN" altLang="en-US" sz="2000" dirty="0">
                <a:solidFill>
                  <a:schemeClr val="tx1"/>
                </a:solidFill>
                <a:latin typeface="Times New Roman Bold" panose="02020603050405020304" charset="0"/>
                <a:cs typeface="Times New Roman Bold" panose="02020603050405020304" charset="0"/>
              </a:rPr>
              <a:t> </a:t>
            </a:r>
            <a:r>
              <a:rPr lang="en-US" altLang="zh-CN" sz="2000" dirty="0">
                <a:solidFill>
                  <a:schemeClr val="tx1"/>
                </a:solidFill>
                <a:latin typeface="Times New Roman Bold" panose="02020603050405020304" charset="0"/>
                <a:cs typeface="Times New Roman Bold" panose="02020603050405020304" charset="0"/>
              </a:rPr>
              <a:t>further</a:t>
            </a:r>
            <a:r>
              <a:rPr lang="zh-CN" altLang="en-US" sz="2000" dirty="0">
                <a:solidFill>
                  <a:schemeClr val="tx1"/>
                </a:solidFill>
                <a:latin typeface="Times New Roman Bold" panose="02020603050405020304" charset="0"/>
                <a:cs typeface="Times New Roman Bold" panose="02020603050405020304" charset="0"/>
              </a:rPr>
              <a:t> </a:t>
            </a:r>
            <a:r>
              <a:rPr lang="en-US" altLang="zh-CN" sz="2000" dirty="0">
                <a:solidFill>
                  <a:schemeClr val="tx1"/>
                </a:solidFill>
                <a:latin typeface="Times New Roman Bold" panose="02020603050405020304" charset="0"/>
                <a:cs typeface="Times New Roman Bold" panose="02020603050405020304" charset="0"/>
              </a:rPr>
              <a:t>questions</a:t>
            </a:r>
            <a:r>
              <a:rPr lang="zh-CN" altLang="en-US" sz="2000" dirty="0">
                <a:solidFill>
                  <a:schemeClr val="tx1"/>
                </a:solidFill>
                <a:latin typeface="Times New Roman Bold" panose="02020603050405020304" charset="0"/>
                <a:cs typeface="Times New Roman Bold" panose="02020603050405020304" charset="0"/>
              </a:rPr>
              <a:t> </a:t>
            </a:r>
            <a:r>
              <a:rPr lang="en-US" altLang="zh-CN" sz="2000" dirty="0">
                <a:solidFill>
                  <a:schemeClr val="tx1"/>
                </a:solidFill>
                <a:latin typeface="Times New Roman Bold" panose="02020603050405020304" charset="0"/>
                <a:cs typeface="Times New Roman Bold" panose="02020603050405020304" charset="0"/>
              </a:rPr>
              <a:t>and</a:t>
            </a:r>
            <a:r>
              <a:rPr lang="zh-CN" altLang="en-US" sz="2000" dirty="0">
                <a:solidFill>
                  <a:schemeClr val="tx1"/>
                </a:solidFill>
                <a:latin typeface="Times New Roman Bold" panose="02020603050405020304" charset="0"/>
                <a:cs typeface="Times New Roman Bold" panose="02020603050405020304" charset="0"/>
              </a:rPr>
              <a:t> </a:t>
            </a:r>
            <a:r>
              <a:rPr lang="en-US" altLang="zh-CN" sz="2000" dirty="0">
                <a:solidFill>
                  <a:schemeClr val="tx1"/>
                </a:solidFill>
                <a:latin typeface="Times New Roman Bold" panose="02020603050405020304" charset="0"/>
                <a:cs typeface="Times New Roman Bold" panose="02020603050405020304" charset="0"/>
              </a:rPr>
              <a:t>comments,</a:t>
            </a:r>
            <a:r>
              <a:rPr lang="zh-CN" altLang="en-US" sz="2000" dirty="0">
                <a:solidFill>
                  <a:schemeClr val="tx1"/>
                </a:solidFill>
                <a:latin typeface="Times New Roman Bold" panose="02020603050405020304" charset="0"/>
                <a:cs typeface="Times New Roman Bold" panose="02020603050405020304" charset="0"/>
              </a:rPr>
              <a:t> </a:t>
            </a:r>
            <a:r>
              <a:rPr lang="en-US" altLang="zh-CN" sz="2000" dirty="0">
                <a:solidFill>
                  <a:schemeClr val="tx1"/>
                </a:solidFill>
                <a:latin typeface="Times New Roman Bold" panose="02020603050405020304" charset="0"/>
                <a:cs typeface="Times New Roman Bold" panose="02020603050405020304" charset="0"/>
              </a:rPr>
              <a:t>please</a:t>
            </a:r>
            <a:r>
              <a:rPr lang="zh-CN" altLang="en-US" sz="2000" dirty="0">
                <a:solidFill>
                  <a:schemeClr val="tx1"/>
                </a:solidFill>
                <a:latin typeface="Times New Roman Bold" panose="02020603050405020304" charset="0"/>
                <a:cs typeface="Times New Roman Bold" panose="02020603050405020304" charset="0"/>
              </a:rPr>
              <a:t> </a:t>
            </a:r>
            <a:r>
              <a:rPr lang="en-US" altLang="zh-CN" sz="2000" dirty="0">
                <a:solidFill>
                  <a:schemeClr val="tx1"/>
                </a:solidFill>
                <a:latin typeface="Times New Roman Bold" panose="02020603050405020304" charset="0"/>
                <a:cs typeface="Times New Roman Bold" panose="02020603050405020304" charset="0"/>
              </a:rPr>
              <a:t>feel</a:t>
            </a:r>
            <a:r>
              <a:rPr lang="zh-CN" altLang="en-US" sz="2000" dirty="0">
                <a:solidFill>
                  <a:schemeClr val="tx1"/>
                </a:solidFill>
                <a:latin typeface="Times New Roman Bold" panose="02020603050405020304" charset="0"/>
                <a:cs typeface="Times New Roman Bold" panose="02020603050405020304" charset="0"/>
              </a:rPr>
              <a:t> </a:t>
            </a:r>
            <a:r>
              <a:rPr lang="en-US" altLang="zh-CN" sz="2000" dirty="0">
                <a:solidFill>
                  <a:schemeClr val="tx1"/>
                </a:solidFill>
                <a:latin typeface="Times New Roman Bold" panose="02020603050405020304" charset="0"/>
                <a:cs typeface="Times New Roman Bold" panose="02020603050405020304" charset="0"/>
              </a:rPr>
              <a:t>free</a:t>
            </a:r>
            <a:r>
              <a:rPr lang="zh-CN" altLang="en-US" sz="2000" dirty="0">
                <a:solidFill>
                  <a:schemeClr val="tx1"/>
                </a:solidFill>
                <a:latin typeface="Times New Roman Bold" panose="02020603050405020304" charset="0"/>
                <a:cs typeface="Times New Roman Bold" panose="02020603050405020304" charset="0"/>
              </a:rPr>
              <a:t> </a:t>
            </a:r>
            <a:r>
              <a:rPr lang="en-US" altLang="zh-CN" sz="2000" dirty="0">
                <a:solidFill>
                  <a:schemeClr val="tx1"/>
                </a:solidFill>
                <a:latin typeface="Times New Roman Bold" panose="02020603050405020304" charset="0"/>
                <a:cs typeface="Times New Roman Bold" panose="02020603050405020304" charset="0"/>
              </a:rPr>
              <a:t>to</a:t>
            </a:r>
            <a:r>
              <a:rPr lang="zh-CN" altLang="en-US" sz="2000" dirty="0">
                <a:solidFill>
                  <a:schemeClr val="tx1"/>
                </a:solidFill>
                <a:latin typeface="Times New Roman Bold" panose="02020603050405020304" charset="0"/>
                <a:cs typeface="Times New Roman Bold" panose="02020603050405020304" charset="0"/>
              </a:rPr>
              <a:t> </a:t>
            </a:r>
            <a:r>
              <a:rPr lang="en-US" altLang="zh-CN" sz="2000" dirty="0">
                <a:solidFill>
                  <a:schemeClr val="tx1"/>
                </a:solidFill>
                <a:latin typeface="Times New Roman Bold" panose="02020603050405020304" charset="0"/>
                <a:cs typeface="Times New Roman Bold" panose="02020603050405020304" charset="0"/>
              </a:rPr>
              <a:t>contact</a:t>
            </a:r>
            <a:r>
              <a:rPr lang="zh-CN" altLang="en-US" sz="2000" dirty="0">
                <a:solidFill>
                  <a:schemeClr val="tx1"/>
                </a:solidFill>
                <a:latin typeface="Times New Roman Bold" panose="02020603050405020304" charset="0"/>
                <a:cs typeface="Times New Roman Bold" panose="02020603050405020304" charset="0"/>
              </a:rPr>
              <a:t> </a:t>
            </a:r>
            <a:r>
              <a:rPr lang="en-US" altLang="zh-CN" sz="2000" dirty="0">
                <a:solidFill>
                  <a:schemeClr val="tx1"/>
                </a:solidFill>
                <a:latin typeface="Times New Roman Bold" panose="02020603050405020304" charset="0"/>
                <a:cs typeface="Times New Roman Bold" panose="02020603050405020304" charset="0"/>
              </a:rPr>
              <a:t>me</a:t>
            </a:r>
            <a:r>
              <a:rPr lang="zh-CN" altLang="en-US" sz="2000" dirty="0">
                <a:solidFill>
                  <a:schemeClr val="tx1"/>
                </a:solidFill>
                <a:latin typeface="Times New Roman Bold" panose="02020603050405020304" charset="0"/>
                <a:cs typeface="Times New Roman Bold" panose="02020603050405020304" charset="0"/>
              </a:rPr>
              <a:t> </a:t>
            </a:r>
            <a:r>
              <a:rPr lang="en-US" altLang="zh-CN" sz="2000" dirty="0">
                <a:solidFill>
                  <a:schemeClr val="tx1"/>
                </a:solidFill>
                <a:latin typeface="Times New Roman Bold" panose="02020603050405020304" charset="0"/>
                <a:cs typeface="Times New Roman Bold" panose="02020603050405020304" charset="0"/>
              </a:rPr>
              <a:t>at</a:t>
            </a:r>
            <a:r>
              <a:rPr lang="zh-CN" altLang="en-US" sz="2000" dirty="0">
                <a:solidFill>
                  <a:schemeClr val="tx1"/>
                </a:solidFill>
                <a:latin typeface="Times New Roman Bold" panose="02020603050405020304" charset="0"/>
                <a:cs typeface="Times New Roman Bold" panose="02020603050405020304" charset="0"/>
              </a:rPr>
              <a:t> </a:t>
            </a:r>
            <a:r>
              <a:rPr lang="en-US" altLang="zh-CN" sz="2000" u="sng" dirty="0">
                <a:solidFill>
                  <a:schemeClr val="tx1"/>
                </a:solidFill>
                <a:latin typeface="Times New Roman Bold" panose="02020603050405020304" charset="0"/>
                <a:cs typeface="Times New Roman Bold" panose="02020603050405020304" charset="0"/>
              </a:rPr>
              <a:t>12332463@mail.sustech.edu.cn</a:t>
            </a:r>
            <a:r>
              <a:rPr lang="zh-CN" altLang="en-US" sz="2000" u="sng" dirty="0">
                <a:solidFill>
                  <a:schemeClr val="tx1"/>
                </a:solidFill>
                <a:latin typeface="Times New Roman Bold" panose="02020603050405020304" charset="0"/>
                <a:cs typeface="Times New Roman Bold" panose="02020603050405020304" charset="0"/>
              </a:rPr>
              <a:t> </a:t>
            </a:r>
            <a:endParaRPr lang="en-US" sz="2000" u="sng" dirty="0">
              <a:solidFill>
                <a:schemeClr val="tx1"/>
              </a:solidFill>
              <a:latin typeface="Times New Roman Bold" panose="02020603050405020304" charset="0"/>
              <a:cs typeface="Times New Roman Bold" panose="0202060305040502030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DdhODIxNGVjZmRiYWIzMzMwNDhkMzcwYjU1MzhlYT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2418</Words>
  <Application>Microsoft Office PowerPoint</Application>
  <PresentationFormat>全屏显示(4:3)</PresentationFormat>
  <Paragraphs>156</Paragraphs>
  <Slides>23</Slides>
  <Notes>23</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23</vt:i4>
      </vt:variant>
    </vt:vector>
  </HeadingPairs>
  <TitlesOfParts>
    <vt:vector size="33" baseType="lpstr">
      <vt:lpstr>Arial</vt:lpstr>
      <vt:lpstr>Calibri</vt:lpstr>
      <vt:lpstr>Arial Regular</vt:lpstr>
      <vt:lpstr>宋体</vt:lpstr>
      <vt:lpstr>Times New Roman</vt:lpstr>
      <vt:lpstr>-apple-system</vt:lpstr>
      <vt:lpstr>Times New Roman Bold</vt:lpstr>
      <vt:lpstr>Times New Roman Regular</vt:lpstr>
      <vt:lpstr>Office 主题​​</vt:lpstr>
      <vt:lpstr>1_Office 主题​​</vt:lpstr>
      <vt:lpstr>FedTP: Federated Learning by Transformer Personalization</vt:lpstr>
      <vt:lpstr>Main Contribution</vt:lpstr>
      <vt:lpstr>Transformer VS CNN</vt:lpstr>
      <vt:lpstr>Starting Point</vt:lpstr>
      <vt:lpstr>Effects under Aggregation</vt:lpstr>
      <vt:lpstr>Effects under Non-IID Data</vt:lpstr>
      <vt:lpstr>Algorithm Overview</vt:lpstr>
      <vt:lpstr>Problem Formulation</vt:lpstr>
      <vt:lpstr>Problem Formulation</vt:lpstr>
      <vt:lpstr>Vanilla Personalization</vt:lpstr>
      <vt:lpstr>Disadvantages of Vanilla Personalization</vt:lpstr>
      <vt:lpstr>FedTP Overview</vt:lpstr>
      <vt:lpstr>FedTP</vt:lpstr>
      <vt:lpstr>FedTP</vt:lpstr>
      <vt:lpstr>FedTP</vt:lpstr>
      <vt:lpstr>Generalization Bound</vt:lpstr>
      <vt:lpstr>Generalization Bound</vt:lpstr>
      <vt:lpstr>Experiment Settings</vt:lpstr>
      <vt:lpstr>Experiments</vt:lpstr>
      <vt:lpstr>Experiments</vt:lpstr>
      <vt:lpstr>Experiments</vt:lpstr>
      <vt:lpstr>Experiments</vt:lpstr>
      <vt:lpstr>Thank You!  Questions are welcome!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SUST</dc:creator>
  <cp:lastModifiedBy>SUST</cp:lastModifiedBy>
  <cp:revision>146</cp:revision>
  <dcterms:created xsi:type="dcterms:W3CDTF">2025-02-28T04:53:09Z</dcterms:created>
  <dcterms:modified xsi:type="dcterms:W3CDTF">2025-02-28T05:35:06Z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2052-6.12.1.8902</vt:lpwstr>
  </property>
  <property fmtid="{D5CDD505-2E9C-101B-9397-08002B2CF9AE}" pid="3" name="ICV">
    <vt:lpwstr>3B0AA599C6C39E66093A6166C825E427_43</vt:lpwstr>
  </property>
</Properties>
</file>